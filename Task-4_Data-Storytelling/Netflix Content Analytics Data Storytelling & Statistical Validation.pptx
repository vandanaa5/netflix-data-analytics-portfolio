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DM Sans" pitchFamily="2" charset="0"/>
      <p:regular r:id="rId12"/>
    </p:embeddedFont>
    <p:embeddedFont>
      <p:font typeface="DM Sans Bold" panose="020B0604020202020204" charset="0"/>
      <p:regular r:id="rId13"/>
    </p:embeddedFont>
    <p:embeddedFont>
      <p:font typeface="Work Sans" pitchFamily="2" charset="0"/>
      <p:regular r:id="rId14"/>
    </p:embeddedFont>
    <p:embeddedFont>
      <p:font typeface="Work Sans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5" d="100"/>
          <a:sy n="45" d="100"/>
        </p:scale>
        <p:origin x="62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svg"/><Relationship Id="rId7" Type="http://schemas.openxmlformats.org/officeDocument/2006/relationships/image" Target="../media/image18.pn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6678239" y="447639"/>
            <a:ext cx="581061" cy="581061"/>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2A27"/>
            </a:solidFill>
          </p:spPr>
        </p:sp>
        <p:sp>
          <p:nvSpPr>
            <p:cNvPr id="5" name="TextBox 5"/>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grpSp>
        <p:nvGrpSpPr>
          <p:cNvPr id="6" name="Group 6"/>
          <p:cNvGrpSpPr/>
          <p:nvPr/>
        </p:nvGrpSpPr>
        <p:grpSpPr>
          <a:xfrm>
            <a:off x="12825645" y="7024329"/>
            <a:ext cx="581061" cy="581061"/>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FFFF">
                <a:alpha val="19608"/>
              </a:srgbClr>
            </a:solidFill>
          </p:spPr>
        </p:sp>
        <p:sp>
          <p:nvSpPr>
            <p:cNvPr id="8" name="TextBox 8"/>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9" name="Freeform 9"/>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12882268" y="447639"/>
            <a:ext cx="3606578" cy="581061"/>
            <a:chOff x="0" y="0"/>
            <a:chExt cx="949881" cy="153037"/>
          </a:xfrm>
        </p:grpSpPr>
        <p:sp>
          <p:nvSpPr>
            <p:cNvPr id="11" name="Freeform 11"/>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FFFFFF">
                <a:alpha val="19608"/>
              </a:srgbClr>
            </a:solidFill>
          </p:spPr>
        </p:sp>
        <p:sp>
          <p:nvSpPr>
            <p:cNvPr id="12" name="TextBox 12"/>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grpSp>
        <p:nvGrpSpPr>
          <p:cNvPr id="13" name="Group 13"/>
          <p:cNvGrpSpPr/>
          <p:nvPr/>
        </p:nvGrpSpPr>
        <p:grpSpPr>
          <a:xfrm>
            <a:off x="10649608" y="7024329"/>
            <a:ext cx="2012954" cy="581061"/>
            <a:chOff x="0" y="0"/>
            <a:chExt cx="530161" cy="153037"/>
          </a:xfrm>
        </p:grpSpPr>
        <p:sp>
          <p:nvSpPr>
            <p:cNvPr id="14" name="Freeform 14"/>
            <p:cNvSpPr/>
            <p:nvPr/>
          </p:nvSpPr>
          <p:spPr>
            <a:xfrm>
              <a:off x="0" y="0"/>
              <a:ext cx="530161" cy="153037"/>
            </a:xfrm>
            <a:custGeom>
              <a:avLst/>
              <a:gdLst/>
              <a:ahLst/>
              <a:cxnLst/>
              <a:rect l="l" t="t" r="r" b="b"/>
              <a:pathLst>
                <a:path w="530161" h="153037">
                  <a:moveTo>
                    <a:pt x="0" y="0"/>
                  </a:moveTo>
                  <a:lnTo>
                    <a:pt x="530161" y="0"/>
                  </a:lnTo>
                  <a:lnTo>
                    <a:pt x="530161" y="153037"/>
                  </a:lnTo>
                  <a:lnTo>
                    <a:pt x="0" y="153037"/>
                  </a:lnTo>
                  <a:close/>
                </a:path>
              </a:pathLst>
            </a:custGeom>
            <a:solidFill>
              <a:srgbClr val="FF2A27"/>
            </a:solidFill>
          </p:spPr>
        </p:sp>
        <p:sp>
          <p:nvSpPr>
            <p:cNvPr id="15" name="TextBox 15"/>
            <p:cNvSpPr txBox="1"/>
            <p:nvPr/>
          </p:nvSpPr>
          <p:spPr>
            <a:xfrm>
              <a:off x="0" y="-47625"/>
              <a:ext cx="530161" cy="200662"/>
            </a:xfrm>
            <a:prstGeom prst="rect">
              <a:avLst/>
            </a:prstGeom>
          </p:spPr>
          <p:txBody>
            <a:bodyPr lIns="50800" tIns="50800" rIns="50800" bIns="50800" rtlCol="0" anchor="ctr"/>
            <a:lstStyle/>
            <a:p>
              <a:pPr marL="0" lvl="0" indent="0" algn="ctr">
                <a:lnSpc>
                  <a:spcPts val="2519"/>
                </a:lnSpc>
              </a:pPr>
              <a:endParaRPr/>
            </a:p>
          </p:txBody>
        </p:sp>
      </p:grpSp>
      <p:sp>
        <p:nvSpPr>
          <p:cNvPr id="16" name="Freeform 16"/>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7" name="Group 17"/>
          <p:cNvGrpSpPr/>
          <p:nvPr/>
        </p:nvGrpSpPr>
        <p:grpSpPr>
          <a:xfrm>
            <a:off x="0" y="2015145"/>
            <a:ext cx="9397422" cy="6256709"/>
            <a:chOff x="0" y="0"/>
            <a:chExt cx="2475041" cy="1647858"/>
          </a:xfrm>
        </p:grpSpPr>
        <p:sp>
          <p:nvSpPr>
            <p:cNvPr id="18" name="Freeform 18"/>
            <p:cNvSpPr/>
            <p:nvPr/>
          </p:nvSpPr>
          <p:spPr>
            <a:xfrm>
              <a:off x="0" y="0"/>
              <a:ext cx="2475041" cy="1647858"/>
            </a:xfrm>
            <a:custGeom>
              <a:avLst/>
              <a:gdLst/>
              <a:ahLst/>
              <a:cxnLst/>
              <a:rect l="l" t="t" r="r" b="b"/>
              <a:pathLst>
                <a:path w="2475041" h="1647858">
                  <a:moveTo>
                    <a:pt x="0" y="0"/>
                  </a:moveTo>
                  <a:lnTo>
                    <a:pt x="2475041" y="0"/>
                  </a:lnTo>
                  <a:lnTo>
                    <a:pt x="2475041" y="1647858"/>
                  </a:lnTo>
                  <a:lnTo>
                    <a:pt x="0" y="1647858"/>
                  </a:lnTo>
                  <a:close/>
                </a:path>
              </a:pathLst>
            </a:custGeom>
            <a:solidFill>
              <a:srgbClr val="FFFFFF">
                <a:alpha val="9804"/>
              </a:srgbClr>
            </a:solidFill>
          </p:spPr>
        </p:sp>
        <p:sp>
          <p:nvSpPr>
            <p:cNvPr id="19" name="TextBox 19"/>
            <p:cNvSpPr txBox="1"/>
            <p:nvPr/>
          </p:nvSpPr>
          <p:spPr>
            <a:xfrm>
              <a:off x="0" y="-47625"/>
              <a:ext cx="2475041" cy="1695483"/>
            </a:xfrm>
            <a:prstGeom prst="rect">
              <a:avLst/>
            </a:prstGeom>
          </p:spPr>
          <p:txBody>
            <a:bodyPr lIns="50800" tIns="50800" rIns="50800" bIns="50800" rtlCol="0" anchor="ctr"/>
            <a:lstStyle/>
            <a:p>
              <a:pPr marL="0" lvl="0" indent="0" algn="ctr">
                <a:lnSpc>
                  <a:spcPts val="2519"/>
                </a:lnSpc>
              </a:pPr>
              <a:endParaRPr/>
            </a:p>
          </p:txBody>
        </p:sp>
      </p:grpSp>
      <p:grpSp>
        <p:nvGrpSpPr>
          <p:cNvPr id="20" name="Group 20"/>
          <p:cNvGrpSpPr/>
          <p:nvPr/>
        </p:nvGrpSpPr>
        <p:grpSpPr>
          <a:xfrm>
            <a:off x="5590020" y="2927939"/>
            <a:ext cx="3807402" cy="5753107"/>
            <a:chOff x="0" y="0"/>
            <a:chExt cx="589866" cy="891307"/>
          </a:xfrm>
        </p:grpSpPr>
        <p:sp>
          <p:nvSpPr>
            <p:cNvPr id="21" name="Freeform 21"/>
            <p:cNvSpPr/>
            <p:nvPr/>
          </p:nvSpPr>
          <p:spPr>
            <a:xfrm>
              <a:off x="0" y="0"/>
              <a:ext cx="589866" cy="891307"/>
            </a:xfrm>
            <a:custGeom>
              <a:avLst/>
              <a:gdLst/>
              <a:ahLst/>
              <a:cxnLst/>
              <a:rect l="l" t="t" r="r" b="b"/>
              <a:pathLst>
                <a:path w="589866" h="891307">
                  <a:moveTo>
                    <a:pt x="0" y="0"/>
                  </a:moveTo>
                  <a:lnTo>
                    <a:pt x="589866" y="0"/>
                  </a:lnTo>
                  <a:lnTo>
                    <a:pt x="589866" y="891307"/>
                  </a:lnTo>
                  <a:lnTo>
                    <a:pt x="0" y="891307"/>
                  </a:lnTo>
                  <a:close/>
                </a:path>
              </a:pathLst>
            </a:custGeom>
            <a:blipFill>
              <a:blip r:embed="rId5"/>
              <a:stretch>
                <a:fillRect l="-902" r="-902"/>
              </a:stretch>
            </a:blipFill>
          </p:spPr>
        </p:sp>
      </p:grpSp>
      <p:grpSp>
        <p:nvGrpSpPr>
          <p:cNvPr id="22" name="Group 22"/>
          <p:cNvGrpSpPr/>
          <p:nvPr/>
        </p:nvGrpSpPr>
        <p:grpSpPr>
          <a:xfrm>
            <a:off x="1506907" y="2266945"/>
            <a:ext cx="3807402" cy="5753107"/>
            <a:chOff x="0" y="0"/>
            <a:chExt cx="589866" cy="891307"/>
          </a:xfrm>
        </p:grpSpPr>
        <p:sp>
          <p:nvSpPr>
            <p:cNvPr id="23" name="Freeform 23"/>
            <p:cNvSpPr/>
            <p:nvPr/>
          </p:nvSpPr>
          <p:spPr>
            <a:xfrm>
              <a:off x="0" y="0"/>
              <a:ext cx="589866" cy="891307"/>
            </a:xfrm>
            <a:custGeom>
              <a:avLst/>
              <a:gdLst/>
              <a:ahLst/>
              <a:cxnLst/>
              <a:rect l="l" t="t" r="r" b="b"/>
              <a:pathLst>
                <a:path w="589866" h="891307">
                  <a:moveTo>
                    <a:pt x="0" y="0"/>
                  </a:moveTo>
                  <a:lnTo>
                    <a:pt x="589866" y="0"/>
                  </a:lnTo>
                  <a:lnTo>
                    <a:pt x="589866" y="891307"/>
                  </a:lnTo>
                  <a:lnTo>
                    <a:pt x="0" y="891307"/>
                  </a:lnTo>
                  <a:close/>
                </a:path>
              </a:pathLst>
            </a:custGeom>
            <a:blipFill>
              <a:blip r:embed="rId6"/>
              <a:stretch>
                <a:fillRect l="-119072" r="-7299"/>
              </a:stretch>
            </a:blipFill>
          </p:spPr>
        </p:sp>
      </p:grpSp>
      <p:grpSp>
        <p:nvGrpSpPr>
          <p:cNvPr id="24" name="Group 24"/>
          <p:cNvGrpSpPr/>
          <p:nvPr/>
        </p:nvGrpSpPr>
        <p:grpSpPr>
          <a:xfrm>
            <a:off x="-35419" y="2281163"/>
            <a:ext cx="1295043" cy="5753107"/>
            <a:chOff x="0" y="0"/>
            <a:chExt cx="589866" cy="891307"/>
          </a:xfrm>
        </p:grpSpPr>
        <p:sp>
          <p:nvSpPr>
            <p:cNvPr id="25" name="Freeform 25"/>
            <p:cNvSpPr/>
            <p:nvPr/>
          </p:nvSpPr>
          <p:spPr>
            <a:xfrm>
              <a:off x="0" y="0"/>
              <a:ext cx="589866" cy="891307"/>
            </a:xfrm>
            <a:custGeom>
              <a:avLst/>
              <a:gdLst/>
              <a:ahLst/>
              <a:cxnLst/>
              <a:rect l="l" t="t" r="r" b="b"/>
              <a:pathLst>
                <a:path w="589866" h="891307">
                  <a:moveTo>
                    <a:pt x="0" y="0"/>
                  </a:moveTo>
                  <a:lnTo>
                    <a:pt x="589866" y="0"/>
                  </a:lnTo>
                  <a:lnTo>
                    <a:pt x="589866" y="891307"/>
                  </a:lnTo>
                  <a:lnTo>
                    <a:pt x="0" y="891307"/>
                  </a:lnTo>
                  <a:close/>
                </a:path>
              </a:pathLst>
            </a:custGeom>
            <a:blipFill>
              <a:blip r:embed="rId6"/>
              <a:stretch>
                <a:fillRect l="-11721" r="-169459" b="-24211"/>
              </a:stretch>
            </a:blipFill>
          </p:spPr>
        </p:sp>
      </p:grpSp>
      <p:sp>
        <p:nvSpPr>
          <p:cNvPr id="26" name="Freeform 26"/>
          <p:cNvSpPr/>
          <p:nvPr/>
        </p:nvSpPr>
        <p:spPr>
          <a:xfrm>
            <a:off x="5681809" y="6182772"/>
            <a:ext cx="728960" cy="728960"/>
          </a:xfrm>
          <a:custGeom>
            <a:avLst/>
            <a:gdLst/>
            <a:ahLst/>
            <a:cxnLst/>
            <a:rect l="l" t="t" r="r" b="b"/>
            <a:pathLst>
              <a:path w="728960" h="728960">
                <a:moveTo>
                  <a:pt x="0" y="0"/>
                </a:moveTo>
                <a:lnTo>
                  <a:pt x="728960" y="0"/>
                </a:lnTo>
                <a:lnTo>
                  <a:pt x="728960" y="728960"/>
                </a:lnTo>
                <a:lnTo>
                  <a:pt x="0" y="72896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7" name="Freeform 27"/>
          <p:cNvSpPr/>
          <p:nvPr/>
        </p:nvSpPr>
        <p:spPr>
          <a:xfrm>
            <a:off x="1686376" y="6182772"/>
            <a:ext cx="728960" cy="728960"/>
          </a:xfrm>
          <a:custGeom>
            <a:avLst/>
            <a:gdLst/>
            <a:ahLst/>
            <a:cxnLst/>
            <a:rect l="l" t="t" r="r" b="b"/>
            <a:pathLst>
              <a:path w="728960" h="728960">
                <a:moveTo>
                  <a:pt x="0" y="0"/>
                </a:moveTo>
                <a:lnTo>
                  <a:pt x="728961" y="0"/>
                </a:lnTo>
                <a:lnTo>
                  <a:pt x="728961" y="728960"/>
                </a:lnTo>
                <a:lnTo>
                  <a:pt x="0" y="72896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8" name="Freeform 28"/>
          <p:cNvSpPr/>
          <p:nvPr/>
        </p:nvSpPr>
        <p:spPr>
          <a:xfrm>
            <a:off x="13023164" y="7180557"/>
            <a:ext cx="210977" cy="268605"/>
          </a:xfrm>
          <a:custGeom>
            <a:avLst/>
            <a:gdLst/>
            <a:ahLst/>
            <a:cxnLst/>
            <a:rect l="l" t="t" r="r" b="b"/>
            <a:pathLst>
              <a:path w="210977" h="268605">
                <a:moveTo>
                  <a:pt x="0" y="0"/>
                </a:moveTo>
                <a:lnTo>
                  <a:pt x="210977" y="0"/>
                </a:lnTo>
                <a:lnTo>
                  <a:pt x="210977" y="268605"/>
                </a:lnTo>
                <a:lnTo>
                  <a:pt x="0" y="268605"/>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9" name="TextBox 29"/>
          <p:cNvSpPr txBox="1"/>
          <p:nvPr/>
        </p:nvSpPr>
        <p:spPr>
          <a:xfrm>
            <a:off x="8583350" y="556242"/>
            <a:ext cx="1306476"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My List</a:t>
            </a:r>
          </a:p>
        </p:txBody>
      </p:sp>
      <p:sp>
        <p:nvSpPr>
          <p:cNvPr id="30" name="TextBox 30"/>
          <p:cNvSpPr txBox="1"/>
          <p:nvPr/>
        </p:nvSpPr>
        <p:spPr>
          <a:xfrm>
            <a:off x="13596775" y="556242"/>
            <a:ext cx="1842261" cy="316262"/>
          </a:xfrm>
          <a:prstGeom prst="rect">
            <a:avLst/>
          </a:prstGeom>
        </p:spPr>
        <p:txBody>
          <a:bodyPr lIns="0" tIns="0" rIns="0" bIns="0" rtlCol="0" anchor="t">
            <a:spAutoFit/>
          </a:bodyPr>
          <a:lstStyle/>
          <a:p>
            <a:pPr marL="0" lvl="0" indent="0" algn="l">
              <a:lnSpc>
                <a:spcPts val="2518"/>
              </a:lnSpc>
              <a:spcBef>
                <a:spcPct val="0"/>
              </a:spcBef>
            </a:pPr>
            <a:r>
              <a:rPr lang="en-US" sz="1798">
                <a:solidFill>
                  <a:srgbClr val="FFFFFF"/>
                </a:solidFill>
                <a:latin typeface="Work Sans"/>
                <a:ea typeface="Work Sans"/>
                <a:cs typeface="Work Sans"/>
                <a:sym typeface="Work Sans"/>
              </a:rPr>
              <a:t>Search Now...</a:t>
            </a:r>
          </a:p>
        </p:txBody>
      </p:sp>
      <p:sp>
        <p:nvSpPr>
          <p:cNvPr id="31" name="TextBox 31"/>
          <p:cNvSpPr txBox="1"/>
          <p:nvPr/>
        </p:nvSpPr>
        <p:spPr>
          <a:xfrm>
            <a:off x="10925321" y="7132932"/>
            <a:ext cx="1461530"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Watch Now</a:t>
            </a:r>
          </a:p>
        </p:txBody>
      </p:sp>
      <p:sp>
        <p:nvSpPr>
          <p:cNvPr id="32" name="TextBox 32"/>
          <p:cNvSpPr txBox="1"/>
          <p:nvPr/>
        </p:nvSpPr>
        <p:spPr>
          <a:xfrm>
            <a:off x="6281838" y="556242"/>
            <a:ext cx="1482194"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Browse</a:t>
            </a:r>
          </a:p>
        </p:txBody>
      </p:sp>
      <p:sp>
        <p:nvSpPr>
          <p:cNvPr id="33" name="TextBox 33"/>
          <p:cNvSpPr txBox="1"/>
          <p:nvPr/>
        </p:nvSpPr>
        <p:spPr>
          <a:xfrm>
            <a:off x="5681809" y="7045955"/>
            <a:ext cx="1635275" cy="357911"/>
          </a:xfrm>
          <a:prstGeom prst="rect">
            <a:avLst/>
          </a:prstGeom>
        </p:spPr>
        <p:txBody>
          <a:bodyPr lIns="0" tIns="0" rIns="0" bIns="0" rtlCol="0" anchor="t">
            <a:spAutoFit/>
          </a:bodyPr>
          <a:lstStyle/>
          <a:p>
            <a:pPr marL="0" lvl="0" indent="0" algn="l">
              <a:lnSpc>
                <a:spcPts val="2847"/>
              </a:lnSpc>
              <a:spcBef>
                <a:spcPct val="0"/>
              </a:spcBef>
            </a:pPr>
            <a:r>
              <a:rPr lang="en-US" sz="2034" b="1">
                <a:solidFill>
                  <a:srgbClr val="FFFFFF"/>
                </a:solidFill>
                <a:latin typeface="Work Sans Bold"/>
                <a:ea typeface="Work Sans Bold"/>
                <a:cs typeface="Work Sans Bold"/>
                <a:sym typeface="Work Sans Bold"/>
              </a:rPr>
              <a:t>Trending</a:t>
            </a:r>
          </a:p>
        </p:txBody>
      </p:sp>
      <p:sp>
        <p:nvSpPr>
          <p:cNvPr id="34" name="TextBox 34"/>
          <p:cNvSpPr txBox="1"/>
          <p:nvPr/>
        </p:nvSpPr>
        <p:spPr>
          <a:xfrm>
            <a:off x="1686376" y="7045955"/>
            <a:ext cx="1635275" cy="357911"/>
          </a:xfrm>
          <a:prstGeom prst="rect">
            <a:avLst/>
          </a:prstGeom>
        </p:spPr>
        <p:txBody>
          <a:bodyPr lIns="0" tIns="0" rIns="0" bIns="0" rtlCol="0" anchor="t">
            <a:spAutoFit/>
          </a:bodyPr>
          <a:lstStyle/>
          <a:p>
            <a:pPr marL="0" lvl="0" indent="0" algn="l">
              <a:lnSpc>
                <a:spcPts val="2847"/>
              </a:lnSpc>
              <a:spcBef>
                <a:spcPct val="0"/>
              </a:spcBef>
            </a:pPr>
            <a:r>
              <a:rPr lang="en-US" sz="2034" b="1">
                <a:solidFill>
                  <a:srgbClr val="FFFFFF"/>
                </a:solidFill>
                <a:latin typeface="Work Sans Bold"/>
                <a:ea typeface="Work Sans Bold"/>
                <a:cs typeface="Work Sans Bold"/>
                <a:sym typeface="Work Sans Bold"/>
              </a:rPr>
              <a:t>New Release</a:t>
            </a:r>
          </a:p>
        </p:txBody>
      </p:sp>
      <p:sp>
        <p:nvSpPr>
          <p:cNvPr id="35" name="TextBox 35"/>
          <p:cNvSpPr txBox="1"/>
          <p:nvPr/>
        </p:nvSpPr>
        <p:spPr>
          <a:xfrm>
            <a:off x="5681809" y="7470770"/>
            <a:ext cx="1179202" cy="240665"/>
          </a:xfrm>
          <a:prstGeom prst="rect">
            <a:avLst/>
          </a:prstGeom>
        </p:spPr>
        <p:txBody>
          <a:bodyPr lIns="0" tIns="0" rIns="0" bIns="0" rtlCol="0" anchor="t">
            <a:spAutoFit/>
          </a:bodyPr>
          <a:lstStyle/>
          <a:p>
            <a:pPr marL="0" lvl="0" indent="0" algn="l">
              <a:lnSpc>
                <a:spcPts val="1960"/>
              </a:lnSpc>
              <a:spcBef>
                <a:spcPct val="0"/>
              </a:spcBef>
            </a:pPr>
            <a:r>
              <a:rPr lang="en-US" sz="1400">
                <a:solidFill>
                  <a:srgbClr val="FFFFFF"/>
                </a:solidFill>
                <a:latin typeface="Work Sans"/>
                <a:ea typeface="Work Sans"/>
                <a:cs typeface="Work Sans"/>
                <a:sym typeface="Work Sans"/>
              </a:rPr>
              <a:t>10 Episodes</a:t>
            </a:r>
          </a:p>
        </p:txBody>
      </p:sp>
      <p:sp>
        <p:nvSpPr>
          <p:cNvPr id="36" name="TextBox 36"/>
          <p:cNvSpPr txBox="1"/>
          <p:nvPr/>
        </p:nvSpPr>
        <p:spPr>
          <a:xfrm>
            <a:off x="1686376" y="7470770"/>
            <a:ext cx="1179202" cy="240665"/>
          </a:xfrm>
          <a:prstGeom prst="rect">
            <a:avLst/>
          </a:prstGeom>
        </p:spPr>
        <p:txBody>
          <a:bodyPr lIns="0" tIns="0" rIns="0" bIns="0" rtlCol="0" anchor="t">
            <a:spAutoFit/>
          </a:bodyPr>
          <a:lstStyle/>
          <a:p>
            <a:pPr marL="0" lvl="0" indent="0" algn="l">
              <a:lnSpc>
                <a:spcPts val="1960"/>
              </a:lnSpc>
              <a:spcBef>
                <a:spcPct val="0"/>
              </a:spcBef>
            </a:pPr>
            <a:r>
              <a:rPr lang="en-US" sz="1400">
                <a:solidFill>
                  <a:srgbClr val="FFFFFF"/>
                </a:solidFill>
                <a:latin typeface="Work Sans"/>
                <a:ea typeface="Work Sans"/>
                <a:cs typeface="Work Sans"/>
                <a:sym typeface="Work Sans"/>
              </a:rPr>
              <a:t>8 Episodes</a:t>
            </a:r>
          </a:p>
        </p:txBody>
      </p:sp>
      <p:sp>
        <p:nvSpPr>
          <p:cNvPr id="37" name="TextBox 37"/>
          <p:cNvSpPr txBox="1"/>
          <p:nvPr/>
        </p:nvSpPr>
        <p:spPr>
          <a:xfrm>
            <a:off x="4194642" y="556242"/>
            <a:ext cx="1267879"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Home</a:t>
            </a:r>
          </a:p>
        </p:txBody>
      </p:sp>
      <p:sp>
        <p:nvSpPr>
          <p:cNvPr id="38" name="TextBox 38"/>
          <p:cNvSpPr txBox="1"/>
          <p:nvPr/>
        </p:nvSpPr>
        <p:spPr>
          <a:xfrm>
            <a:off x="1028700" y="538779"/>
            <a:ext cx="2725071" cy="321964"/>
          </a:xfrm>
          <a:prstGeom prst="rect">
            <a:avLst/>
          </a:prstGeom>
        </p:spPr>
        <p:txBody>
          <a:bodyPr lIns="0" tIns="0" rIns="0" bIns="0" rtlCol="0" anchor="t">
            <a:spAutoFit/>
          </a:bodyPr>
          <a:lstStyle/>
          <a:p>
            <a:pPr marL="0" lvl="0" indent="0" algn="l">
              <a:lnSpc>
                <a:spcPts val="2728"/>
              </a:lnSpc>
              <a:spcBef>
                <a:spcPct val="0"/>
              </a:spcBef>
            </a:pPr>
            <a:r>
              <a:rPr lang="en-US" sz="1949">
                <a:solidFill>
                  <a:srgbClr val="FF2A27"/>
                </a:solidFill>
                <a:latin typeface="DM Sans"/>
                <a:ea typeface="DM Sans"/>
                <a:cs typeface="DM Sans"/>
                <a:sym typeface="DM Sans"/>
              </a:rPr>
              <a:t>STREAMFLIX</a:t>
            </a:r>
          </a:p>
        </p:txBody>
      </p:sp>
      <p:sp>
        <p:nvSpPr>
          <p:cNvPr id="39" name="TextBox 39"/>
          <p:cNvSpPr txBox="1"/>
          <p:nvPr/>
        </p:nvSpPr>
        <p:spPr>
          <a:xfrm>
            <a:off x="9739341" y="2062770"/>
            <a:ext cx="8548659" cy="4638444"/>
          </a:xfrm>
          <a:prstGeom prst="rect">
            <a:avLst/>
          </a:prstGeom>
        </p:spPr>
        <p:txBody>
          <a:bodyPr lIns="0" tIns="0" rIns="0" bIns="0" rtlCol="0" anchor="t">
            <a:spAutoFit/>
          </a:bodyPr>
          <a:lstStyle/>
          <a:p>
            <a:pPr algn="l">
              <a:lnSpc>
                <a:spcPts val="7324"/>
              </a:lnSpc>
            </a:pPr>
            <a:r>
              <a:rPr lang="en-US" sz="6539">
                <a:solidFill>
                  <a:srgbClr val="FF2A27"/>
                </a:solidFill>
                <a:latin typeface="DM Sans"/>
                <a:ea typeface="DM Sans"/>
                <a:cs typeface="DM Sans"/>
                <a:sym typeface="DM Sans"/>
              </a:rPr>
              <a:t>NETFLIX CONTENT ANALYTICS:</a:t>
            </a:r>
          </a:p>
          <a:p>
            <a:pPr marL="0" lvl="0" indent="0" algn="l">
              <a:lnSpc>
                <a:spcPts val="7324"/>
              </a:lnSpc>
            </a:pPr>
            <a:r>
              <a:rPr lang="en-US" sz="6539">
                <a:solidFill>
                  <a:srgbClr val="FF2A27"/>
                </a:solidFill>
                <a:latin typeface="DM Sans"/>
                <a:ea typeface="DM Sans"/>
                <a:cs typeface="DM Sans"/>
                <a:sym typeface="DM Sans"/>
              </a:rPr>
              <a:t>Data Storytelling &amp; Statistical Validation</a:t>
            </a:r>
          </a:p>
        </p:txBody>
      </p:sp>
      <p:sp>
        <p:nvSpPr>
          <p:cNvPr id="40" name="TextBox 40"/>
          <p:cNvSpPr txBox="1"/>
          <p:nvPr/>
        </p:nvSpPr>
        <p:spPr>
          <a:xfrm>
            <a:off x="10135172" y="8263850"/>
            <a:ext cx="6543068" cy="417195"/>
          </a:xfrm>
          <a:prstGeom prst="rect">
            <a:avLst/>
          </a:prstGeom>
        </p:spPr>
        <p:txBody>
          <a:bodyPr lIns="0" tIns="0" rIns="0" bIns="0" rtlCol="0" anchor="t">
            <a:spAutoFit/>
          </a:bodyPr>
          <a:lstStyle/>
          <a:p>
            <a:pPr marL="0" lvl="0" indent="0" algn="l">
              <a:lnSpc>
                <a:spcPts val="1679"/>
              </a:lnSpc>
              <a:spcBef>
                <a:spcPct val="0"/>
              </a:spcBef>
            </a:pPr>
            <a:r>
              <a:rPr lang="en-US" sz="1200">
                <a:solidFill>
                  <a:srgbClr val="FFFFFF"/>
                </a:solidFill>
                <a:latin typeface="Work Sans"/>
                <a:ea typeface="Work Sans"/>
                <a:cs typeface="Work Sans"/>
                <a:sym typeface="Work Sans"/>
              </a:rPr>
              <a:t>Unlimited movies, TV shows, and more. Watch anywhere, cancel anytime. Join millions of viewers enjoying the best entertainment on demand.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6678239" y="447639"/>
            <a:ext cx="581061" cy="581061"/>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2A27"/>
            </a:solidFill>
          </p:spPr>
        </p:sp>
        <p:sp>
          <p:nvSpPr>
            <p:cNvPr id="5" name="TextBox 5"/>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6" name="Freeform 6"/>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2882268" y="447639"/>
            <a:ext cx="3606578" cy="581061"/>
            <a:chOff x="0" y="0"/>
            <a:chExt cx="949881" cy="153037"/>
          </a:xfrm>
        </p:grpSpPr>
        <p:sp>
          <p:nvSpPr>
            <p:cNvPr id="8" name="Freeform 8"/>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000000">
                <a:alpha val="19608"/>
              </a:srgbClr>
            </a:solidFill>
          </p:spPr>
        </p:sp>
        <p:sp>
          <p:nvSpPr>
            <p:cNvPr id="9" name="TextBox 9"/>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sp>
        <p:nvSpPr>
          <p:cNvPr id="10" name="Freeform 10"/>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8583350" y="556242"/>
            <a:ext cx="1306476"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Sign In</a:t>
            </a:r>
          </a:p>
        </p:txBody>
      </p:sp>
      <p:sp>
        <p:nvSpPr>
          <p:cNvPr id="12" name="TextBox 12"/>
          <p:cNvSpPr txBox="1"/>
          <p:nvPr/>
        </p:nvSpPr>
        <p:spPr>
          <a:xfrm>
            <a:off x="13596775" y="556242"/>
            <a:ext cx="1842261" cy="316230"/>
          </a:xfrm>
          <a:prstGeom prst="rect">
            <a:avLst/>
          </a:prstGeom>
        </p:spPr>
        <p:txBody>
          <a:bodyPr lIns="0" tIns="0" rIns="0" bIns="0" rtlCol="0" anchor="t">
            <a:spAutoFit/>
          </a:bodyPr>
          <a:lstStyle/>
          <a:p>
            <a:pPr marL="0" lvl="0" indent="0" algn="l">
              <a:lnSpc>
                <a:spcPts val="2519"/>
              </a:lnSpc>
              <a:spcBef>
                <a:spcPct val="0"/>
              </a:spcBef>
            </a:pPr>
            <a:r>
              <a:rPr lang="en-US" sz="1799">
                <a:solidFill>
                  <a:srgbClr val="FFFFFF"/>
                </a:solidFill>
                <a:latin typeface="Work Sans"/>
                <a:ea typeface="Work Sans"/>
                <a:cs typeface="Work Sans"/>
                <a:sym typeface="Work Sans"/>
              </a:rPr>
              <a:t>Search Now...</a:t>
            </a:r>
          </a:p>
        </p:txBody>
      </p:sp>
      <p:sp>
        <p:nvSpPr>
          <p:cNvPr id="13" name="TextBox 13"/>
          <p:cNvSpPr txBox="1"/>
          <p:nvPr/>
        </p:nvSpPr>
        <p:spPr>
          <a:xfrm>
            <a:off x="6281838" y="556242"/>
            <a:ext cx="1482194"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Browse</a:t>
            </a:r>
          </a:p>
        </p:txBody>
      </p:sp>
      <p:sp>
        <p:nvSpPr>
          <p:cNvPr id="14" name="TextBox 14"/>
          <p:cNvSpPr txBox="1"/>
          <p:nvPr/>
        </p:nvSpPr>
        <p:spPr>
          <a:xfrm>
            <a:off x="4194642" y="556242"/>
            <a:ext cx="1267879"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Home</a:t>
            </a:r>
          </a:p>
        </p:txBody>
      </p:sp>
      <p:sp>
        <p:nvSpPr>
          <p:cNvPr id="15" name="TextBox 15"/>
          <p:cNvSpPr txBox="1"/>
          <p:nvPr/>
        </p:nvSpPr>
        <p:spPr>
          <a:xfrm>
            <a:off x="1028700" y="519729"/>
            <a:ext cx="2725071" cy="389297"/>
          </a:xfrm>
          <a:prstGeom prst="rect">
            <a:avLst/>
          </a:prstGeom>
        </p:spPr>
        <p:txBody>
          <a:bodyPr lIns="0" tIns="0" rIns="0" bIns="0" rtlCol="0" anchor="t">
            <a:spAutoFit/>
          </a:bodyPr>
          <a:lstStyle/>
          <a:p>
            <a:pPr marL="0" lvl="0" indent="0" algn="l">
              <a:lnSpc>
                <a:spcPts val="3217"/>
              </a:lnSpc>
              <a:spcBef>
                <a:spcPct val="0"/>
              </a:spcBef>
            </a:pPr>
            <a:r>
              <a:rPr lang="en-US" sz="2298">
                <a:solidFill>
                  <a:srgbClr val="FF2A27"/>
                </a:solidFill>
                <a:latin typeface="DM Sans"/>
                <a:ea typeface="DM Sans"/>
                <a:cs typeface="DM Sans"/>
                <a:sym typeface="DM Sans"/>
              </a:rPr>
              <a:t>NETFLIX</a:t>
            </a:r>
          </a:p>
        </p:txBody>
      </p:sp>
      <p:sp>
        <p:nvSpPr>
          <p:cNvPr id="16" name="TextBox 16"/>
          <p:cNvSpPr txBox="1"/>
          <p:nvPr/>
        </p:nvSpPr>
        <p:spPr>
          <a:xfrm>
            <a:off x="3364438" y="1401048"/>
            <a:ext cx="10927544" cy="870585"/>
          </a:xfrm>
          <a:prstGeom prst="rect">
            <a:avLst/>
          </a:prstGeom>
        </p:spPr>
        <p:txBody>
          <a:bodyPr lIns="0" tIns="0" rIns="0" bIns="0" rtlCol="0" anchor="t">
            <a:spAutoFit/>
          </a:bodyPr>
          <a:lstStyle/>
          <a:p>
            <a:pPr marL="0" lvl="0" indent="0" algn="ctr">
              <a:lnSpc>
                <a:spcPts val="6720"/>
              </a:lnSpc>
            </a:pPr>
            <a:r>
              <a:rPr lang="en-US" sz="6000" b="1">
                <a:solidFill>
                  <a:srgbClr val="FF2A27"/>
                </a:solidFill>
                <a:latin typeface="DM Sans Bold"/>
                <a:ea typeface="DM Sans Bold"/>
                <a:cs typeface="DM Sans Bold"/>
                <a:sym typeface="DM Sans Bold"/>
              </a:rPr>
              <a:t>INTRODUCTION</a:t>
            </a:r>
          </a:p>
        </p:txBody>
      </p:sp>
      <p:sp>
        <p:nvSpPr>
          <p:cNvPr id="17" name="TextBox 17"/>
          <p:cNvSpPr txBox="1"/>
          <p:nvPr/>
        </p:nvSpPr>
        <p:spPr>
          <a:xfrm>
            <a:off x="2090596" y="3599815"/>
            <a:ext cx="14291983" cy="4181476"/>
          </a:xfrm>
          <a:prstGeom prst="rect">
            <a:avLst/>
          </a:prstGeom>
        </p:spPr>
        <p:txBody>
          <a:bodyPr lIns="0" tIns="0" rIns="0" bIns="0" rtlCol="0" anchor="t">
            <a:spAutoFit/>
          </a:bodyPr>
          <a:lstStyle/>
          <a:p>
            <a:pPr algn="just">
              <a:lnSpc>
                <a:spcPts val="4199"/>
              </a:lnSpc>
              <a:spcBef>
                <a:spcPct val="0"/>
              </a:spcBef>
            </a:pPr>
            <a:r>
              <a:rPr lang="en-US" sz="2999">
                <a:solidFill>
                  <a:srgbClr val="FFFFFF"/>
                </a:solidFill>
                <a:latin typeface="Work Sans"/>
                <a:ea typeface="Work Sans"/>
                <a:cs typeface="Work Sans"/>
                <a:sym typeface="Work Sans"/>
              </a:rPr>
              <a:t>This project focuses on analyzing Netflix content data to uncover meaningful business insights through data analytics, visualization, and storytelling. Using Python, Tableau, and Business Intelligence techniques, the project explores content trends, genre popularity, country-wise distribution, audience ratings, and growth patterns of movies and TV shows. The goal was to transform raw data into actionable insights through interactive dashboards and statistical validation to support data-driven decision-making.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78239" y="447639"/>
            <a:ext cx="581061" cy="581061"/>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2A27"/>
            </a:solidFill>
          </p:spPr>
        </p:sp>
        <p:sp>
          <p:nvSpPr>
            <p:cNvPr id="4" name="TextBox 4"/>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5" name="Freeform 5"/>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882268" y="447639"/>
            <a:ext cx="3606578" cy="581061"/>
            <a:chOff x="0" y="0"/>
            <a:chExt cx="949881" cy="153037"/>
          </a:xfrm>
        </p:grpSpPr>
        <p:sp>
          <p:nvSpPr>
            <p:cNvPr id="7" name="Freeform 7"/>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000000">
                <a:alpha val="19608"/>
              </a:srgbClr>
            </a:solidFill>
          </p:spPr>
        </p:sp>
        <p:sp>
          <p:nvSpPr>
            <p:cNvPr id="8" name="TextBox 8"/>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sp>
        <p:nvSpPr>
          <p:cNvPr id="9" name="Freeform 9"/>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13499104" y="2597520"/>
            <a:ext cx="5979484" cy="6526477"/>
            <a:chOff x="0" y="0"/>
            <a:chExt cx="1574844" cy="1718908"/>
          </a:xfrm>
        </p:grpSpPr>
        <p:sp>
          <p:nvSpPr>
            <p:cNvPr id="11" name="Freeform 11"/>
            <p:cNvSpPr/>
            <p:nvPr/>
          </p:nvSpPr>
          <p:spPr>
            <a:xfrm>
              <a:off x="0" y="0"/>
              <a:ext cx="1574844" cy="1718907"/>
            </a:xfrm>
            <a:custGeom>
              <a:avLst/>
              <a:gdLst/>
              <a:ahLst/>
              <a:cxnLst/>
              <a:rect l="l" t="t" r="r" b="b"/>
              <a:pathLst>
                <a:path w="1574844" h="1718907">
                  <a:moveTo>
                    <a:pt x="0" y="0"/>
                  </a:moveTo>
                  <a:lnTo>
                    <a:pt x="1574844" y="0"/>
                  </a:lnTo>
                  <a:lnTo>
                    <a:pt x="1574844" y="1718907"/>
                  </a:lnTo>
                  <a:lnTo>
                    <a:pt x="0" y="1718907"/>
                  </a:lnTo>
                  <a:close/>
                </a:path>
              </a:pathLst>
            </a:custGeom>
            <a:solidFill>
              <a:srgbClr val="FF2A27"/>
            </a:solidFill>
          </p:spPr>
        </p:sp>
        <p:sp>
          <p:nvSpPr>
            <p:cNvPr id="12" name="TextBox 12"/>
            <p:cNvSpPr txBox="1"/>
            <p:nvPr/>
          </p:nvSpPr>
          <p:spPr>
            <a:xfrm>
              <a:off x="0" y="-47625"/>
              <a:ext cx="1574844" cy="1766533"/>
            </a:xfrm>
            <a:prstGeom prst="rect">
              <a:avLst/>
            </a:prstGeom>
          </p:spPr>
          <p:txBody>
            <a:bodyPr lIns="50800" tIns="50800" rIns="50800" bIns="50800" rtlCol="0" anchor="ctr"/>
            <a:lstStyle/>
            <a:p>
              <a:pPr marL="0" lvl="0" indent="0" algn="ctr">
                <a:lnSpc>
                  <a:spcPts val="2519"/>
                </a:lnSpc>
              </a:pPr>
              <a:endParaRPr/>
            </a:p>
          </p:txBody>
        </p:sp>
      </p:grpSp>
      <p:grpSp>
        <p:nvGrpSpPr>
          <p:cNvPr id="13" name="Group 13"/>
          <p:cNvGrpSpPr/>
          <p:nvPr/>
        </p:nvGrpSpPr>
        <p:grpSpPr>
          <a:xfrm>
            <a:off x="13596775" y="3424505"/>
            <a:ext cx="4691225" cy="4989476"/>
            <a:chOff x="0" y="0"/>
            <a:chExt cx="726793" cy="773000"/>
          </a:xfrm>
        </p:grpSpPr>
        <p:sp>
          <p:nvSpPr>
            <p:cNvPr id="14" name="Freeform 14"/>
            <p:cNvSpPr/>
            <p:nvPr/>
          </p:nvSpPr>
          <p:spPr>
            <a:xfrm>
              <a:off x="0" y="0"/>
              <a:ext cx="726793" cy="773000"/>
            </a:xfrm>
            <a:custGeom>
              <a:avLst/>
              <a:gdLst/>
              <a:ahLst/>
              <a:cxnLst/>
              <a:rect l="l" t="t" r="r" b="b"/>
              <a:pathLst>
                <a:path w="726793" h="773000">
                  <a:moveTo>
                    <a:pt x="0" y="0"/>
                  </a:moveTo>
                  <a:lnTo>
                    <a:pt x="726793" y="0"/>
                  </a:lnTo>
                  <a:lnTo>
                    <a:pt x="726793" y="773000"/>
                  </a:lnTo>
                  <a:lnTo>
                    <a:pt x="0" y="773000"/>
                  </a:lnTo>
                  <a:close/>
                </a:path>
              </a:pathLst>
            </a:custGeom>
            <a:blipFill>
              <a:blip r:embed="rId4"/>
              <a:stretch>
                <a:fillRect l="-28929" r="-28929"/>
              </a:stretch>
            </a:blipFill>
          </p:spPr>
        </p:sp>
      </p:grpSp>
      <p:grpSp>
        <p:nvGrpSpPr>
          <p:cNvPr id="15" name="Group 15"/>
          <p:cNvGrpSpPr/>
          <p:nvPr/>
        </p:nvGrpSpPr>
        <p:grpSpPr>
          <a:xfrm>
            <a:off x="1028700" y="8967770"/>
            <a:ext cx="2340862" cy="581061"/>
            <a:chOff x="0" y="0"/>
            <a:chExt cx="616523" cy="153037"/>
          </a:xfrm>
        </p:grpSpPr>
        <p:sp>
          <p:nvSpPr>
            <p:cNvPr id="16" name="Freeform 16"/>
            <p:cNvSpPr/>
            <p:nvPr/>
          </p:nvSpPr>
          <p:spPr>
            <a:xfrm>
              <a:off x="0" y="0"/>
              <a:ext cx="616523" cy="153037"/>
            </a:xfrm>
            <a:custGeom>
              <a:avLst/>
              <a:gdLst/>
              <a:ahLst/>
              <a:cxnLst/>
              <a:rect l="l" t="t" r="r" b="b"/>
              <a:pathLst>
                <a:path w="616523" h="153037">
                  <a:moveTo>
                    <a:pt x="0" y="0"/>
                  </a:moveTo>
                  <a:lnTo>
                    <a:pt x="616523" y="0"/>
                  </a:lnTo>
                  <a:lnTo>
                    <a:pt x="616523" y="153037"/>
                  </a:lnTo>
                  <a:lnTo>
                    <a:pt x="0" y="153037"/>
                  </a:lnTo>
                  <a:close/>
                </a:path>
              </a:pathLst>
            </a:custGeom>
            <a:solidFill>
              <a:srgbClr val="FF2A27"/>
            </a:solidFill>
          </p:spPr>
        </p:sp>
        <p:sp>
          <p:nvSpPr>
            <p:cNvPr id="17" name="TextBox 17"/>
            <p:cNvSpPr txBox="1"/>
            <p:nvPr/>
          </p:nvSpPr>
          <p:spPr>
            <a:xfrm>
              <a:off x="0" y="-47625"/>
              <a:ext cx="616523" cy="200662"/>
            </a:xfrm>
            <a:prstGeom prst="rect">
              <a:avLst/>
            </a:prstGeom>
          </p:spPr>
          <p:txBody>
            <a:bodyPr lIns="50800" tIns="50800" rIns="50800" bIns="50800" rtlCol="0" anchor="ctr"/>
            <a:lstStyle/>
            <a:p>
              <a:pPr marL="0" lvl="0" indent="0" algn="ctr">
                <a:lnSpc>
                  <a:spcPts val="2519"/>
                </a:lnSpc>
              </a:pPr>
              <a:endParaRPr/>
            </a:p>
          </p:txBody>
        </p:sp>
      </p:grpSp>
      <p:sp>
        <p:nvSpPr>
          <p:cNvPr id="18" name="TextBox 18"/>
          <p:cNvSpPr txBox="1"/>
          <p:nvPr/>
        </p:nvSpPr>
        <p:spPr>
          <a:xfrm>
            <a:off x="8583350" y="556242"/>
            <a:ext cx="1306476" cy="316262"/>
          </a:xfrm>
          <a:prstGeom prst="rect">
            <a:avLst/>
          </a:prstGeom>
        </p:spPr>
        <p:txBody>
          <a:bodyPr lIns="0" tIns="0" rIns="0" bIns="0" rtlCol="0" anchor="t">
            <a:spAutoFit/>
          </a:bodyPr>
          <a:lstStyle/>
          <a:p>
            <a:pPr marL="0" lvl="0" indent="0" algn="ctr">
              <a:lnSpc>
                <a:spcPts val="2518"/>
              </a:lnSpc>
              <a:spcBef>
                <a:spcPct val="0"/>
              </a:spcBef>
            </a:pPr>
            <a:r>
              <a:rPr lang="en-US" sz="1798">
                <a:solidFill>
                  <a:srgbClr val="000000"/>
                </a:solidFill>
                <a:latin typeface="Work Sans"/>
                <a:ea typeface="Work Sans"/>
                <a:cs typeface="Work Sans"/>
                <a:sym typeface="Work Sans"/>
              </a:rPr>
              <a:t>Contact</a:t>
            </a:r>
          </a:p>
        </p:txBody>
      </p:sp>
      <p:sp>
        <p:nvSpPr>
          <p:cNvPr id="19" name="TextBox 19"/>
          <p:cNvSpPr txBox="1"/>
          <p:nvPr/>
        </p:nvSpPr>
        <p:spPr>
          <a:xfrm>
            <a:off x="13596775" y="556242"/>
            <a:ext cx="1842261" cy="316262"/>
          </a:xfrm>
          <a:prstGeom prst="rect">
            <a:avLst/>
          </a:prstGeom>
        </p:spPr>
        <p:txBody>
          <a:bodyPr lIns="0" tIns="0" rIns="0" bIns="0" rtlCol="0" anchor="t">
            <a:spAutoFit/>
          </a:bodyPr>
          <a:lstStyle/>
          <a:p>
            <a:pPr marL="0" lvl="0" indent="0" algn="l">
              <a:lnSpc>
                <a:spcPts val="2518"/>
              </a:lnSpc>
              <a:spcBef>
                <a:spcPct val="0"/>
              </a:spcBef>
            </a:pPr>
            <a:r>
              <a:rPr lang="en-US" sz="1798">
                <a:solidFill>
                  <a:srgbClr val="FFFFFF"/>
                </a:solidFill>
                <a:latin typeface="Work Sans"/>
                <a:ea typeface="Work Sans"/>
                <a:cs typeface="Work Sans"/>
                <a:sym typeface="Work Sans"/>
              </a:rPr>
              <a:t>Search Now...</a:t>
            </a:r>
          </a:p>
        </p:txBody>
      </p:sp>
      <p:sp>
        <p:nvSpPr>
          <p:cNvPr id="20" name="TextBox 20"/>
          <p:cNvSpPr txBox="1"/>
          <p:nvPr/>
        </p:nvSpPr>
        <p:spPr>
          <a:xfrm>
            <a:off x="6281838" y="556242"/>
            <a:ext cx="1482194" cy="316262"/>
          </a:xfrm>
          <a:prstGeom prst="rect">
            <a:avLst/>
          </a:prstGeom>
        </p:spPr>
        <p:txBody>
          <a:bodyPr lIns="0" tIns="0" rIns="0" bIns="0" rtlCol="0" anchor="t">
            <a:spAutoFit/>
          </a:bodyPr>
          <a:lstStyle/>
          <a:p>
            <a:pPr marL="0" lvl="0" indent="0" algn="ctr">
              <a:lnSpc>
                <a:spcPts val="2518"/>
              </a:lnSpc>
              <a:spcBef>
                <a:spcPct val="0"/>
              </a:spcBef>
            </a:pPr>
            <a:r>
              <a:rPr lang="en-US" sz="1798">
                <a:solidFill>
                  <a:srgbClr val="000000"/>
                </a:solidFill>
                <a:latin typeface="Work Sans"/>
                <a:ea typeface="Work Sans"/>
                <a:cs typeface="Work Sans"/>
                <a:sym typeface="Work Sans"/>
              </a:rPr>
              <a:t>About Us</a:t>
            </a:r>
          </a:p>
        </p:txBody>
      </p:sp>
      <p:sp>
        <p:nvSpPr>
          <p:cNvPr id="21" name="TextBox 21"/>
          <p:cNvSpPr txBox="1"/>
          <p:nvPr/>
        </p:nvSpPr>
        <p:spPr>
          <a:xfrm>
            <a:off x="4194642" y="556242"/>
            <a:ext cx="1267879" cy="316262"/>
          </a:xfrm>
          <a:prstGeom prst="rect">
            <a:avLst/>
          </a:prstGeom>
        </p:spPr>
        <p:txBody>
          <a:bodyPr lIns="0" tIns="0" rIns="0" bIns="0" rtlCol="0" anchor="t">
            <a:spAutoFit/>
          </a:bodyPr>
          <a:lstStyle/>
          <a:p>
            <a:pPr marL="0" lvl="0" indent="0" algn="ctr">
              <a:lnSpc>
                <a:spcPts val="2518"/>
              </a:lnSpc>
              <a:spcBef>
                <a:spcPct val="0"/>
              </a:spcBef>
            </a:pPr>
            <a:r>
              <a:rPr lang="en-US" sz="1798">
                <a:solidFill>
                  <a:srgbClr val="000000"/>
                </a:solidFill>
                <a:latin typeface="Work Sans"/>
                <a:ea typeface="Work Sans"/>
                <a:cs typeface="Work Sans"/>
                <a:sym typeface="Work Sans"/>
              </a:rPr>
              <a:t>Home</a:t>
            </a:r>
          </a:p>
        </p:txBody>
      </p:sp>
      <p:sp>
        <p:nvSpPr>
          <p:cNvPr id="22" name="TextBox 22"/>
          <p:cNvSpPr txBox="1"/>
          <p:nvPr/>
        </p:nvSpPr>
        <p:spPr>
          <a:xfrm>
            <a:off x="1028700" y="519729"/>
            <a:ext cx="2725071" cy="389297"/>
          </a:xfrm>
          <a:prstGeom prst="rect">
            <a:avLst/>
          </a:prstGeom>
        </p:spPr>
        <p:txBody>
          <a:bodyPr lIns="0" tIns="0" rIns="0" bIns="0" rtlCol="0" anchor="t">
            <a:spAutoFit/>
          </a:bodyPr>
          <a:lstStyle/>
          <a:p>
            <a:pPr marL="0" lvl="0" indent="0" algn="l">
              <a:lnSpc>
                <a:spcPts val="3217"/>
              </a:lnSpc>
              <a:spcBef>
                <a:spcPct val="0"/>
              </a:spcBef>
            </a:pPr>
            <a:r>
              <a:rPr lang="en-US" sz="2298">
                <a:solidFill>
                  <a:srgbClr val="FF2A27"/>
                </a:solidFill>
                <a:latin typeface="DM Sans"/>
                <a:ea typeface="DM Sans"/>
                <a:cs typeface="DM Sans"/>
                <a:sym typeface="DM Sans"/>
              </a:rPr>
              <a:t>NETFLIX</a:t>
            </a:r>
          </a:p>
        </p:txBody>
      </p:sp>
      <p:sp>
        <p:nvSpPr>
          <p:cNvPr id="23" name="TextBox 23"/>
          <p:cNvSpPr txBox="1"/>
          <p:nvPr/>
        </p:nvSpPr>
        <p:spPr>
          <a:xfrm>
            <a:off x="2504514" y="1758739"/>
            <a:ext cx="9119513" cy="958215"/>
          </a:xfrm>
          <a:prstGeom prst="rect">
            <a:avLst/>
          </a:prstGeom>
        </p:spPr>
        <p:txBody>
          <a:bodyPr lIns="0" tIns="0" rIns="0" bIns="0" rtlCol="0" anchor="t">
            <a:spAutoFit/>
          </a:bodyPr>
          <a:lstStyle/>
          <a:p>
            <a:pPr marL="0" lvl="0" indent="0" algn="ctr">
              <a:lnSpc>
                <a:spcPts val="7680"/>
              </a:lnSpc>
            </a:pPr>
            <a:r>
              <a:rPr lang="en-US" sz="6000" b="1">
                <a:solidFill>
                  <a:srgbClr val="000000"/>
                </a:solidFill>
                <a:latin typeface="DM Sans Bold"/>
                <a:ea typeface="DM Sans Bold"/>
                <a:cs typeface="DM Sans Bold"/>
                <a:sym typeface="DM Sans Bold"/>
              </a:rPr>
              <a:t>PROJECT OBJECTIVES</a:t>
            </a:r>
          </a:p>
        </p:txBody>
      </p:sp>
      <p:sp>
        <p:nvSpPr>
          <p:cNvPr id="24" name="TextBox 24"/>
          <p:cNvSpPr txBox="1"/>
          <p:nvPr/>
        </p:nvSpPr>
        <p:spPr>
          <a:xfrm>
            <a:off x="1330593" y="9076372"/>
            <a:ext cx="1737077"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Subscribe Now</a:t>
            </a:r>
          </a:p>
        </p:txBody>
      </p:sp>
      <p:sp>
        <p:nvSpPr>
          <p:cNvPr id="25" name="TextBox 25"/>
          <p:cNvSpPr txBox="1"/>
          <p:nvPr/>
        </p:nvSpPr>
        <p:spPr>
          <a:xfrm>
            <a:off x="921131" y="3367355"/>
            <a:ext cx="12675644" cy="4563110"/>
          </a:xfrm>
          <a:prstGeom prst="rect">
            <a:avLst/>
          </a:prstGeom>
        </p:spPr>
        <p:txBody>
          <a:bodyPr lIns="0" tIns="0" rIns="0" bIns="0" rtlCol="0" anchor="t">
            <a:spAutoFit/>
          </a:bodyPr>
          <a:lstStyle/>
          <a:p>
            <a:pPr marL="561342" lvl="1" indent="-280671" algn="l">
              <a:lnSpc>
                <a:spcPts val="3640"/>
              </a:lnSpc>
              <a:buFont typeface="Arial"/>
              <a:buChar char="•"/>
            </a:pPr>
            <a:r>
              <a:rPr lang="en-US" sz="2600">
                <a:solidFill>
                  <a:srgbClr val="000000"/>
                </a:solidFill>
                <a:latin typeface="Work Sans"/>
                <a:ea typeface="Work Sans"/>
                <a:cs typeface="Work Sans"/>
                <a:sym typeface="Work Sans"/>
              </a:rPr>
              <a:t>Analyze Netflix movies and TV shows dataset to identify content trends and patterns</a:t>
            </a:r>
          </a:p>
          <a:p>
            <a:pPr marL="561342" lvl="1" indent="-280671" algn="l">
              <a:lnSpc>
                <a:spcPts val="3640"/>
              </a:lnSpc>
              <a:buFont typeface="Arial"/>
              <a:buChar char="•"/>
            </a:pPr>
            <a:r>
              <a:rPr lang="en-US" sz="2600">
                <a:solidFill>
                  <a:srgbClr val="000000"/>
                </a:solidFill>
                <a:latin typeface="Work Sans"/>
                <a:ea typeface="Work Sans"/>
                <a:cs typeface="Work Sans"/>
                <a:sym typeface="Work Sans"/>
              </a:rPr>
              <a:t>Perform Exploratory Data Analysis (EDA) to uncover meaningful insights</a:t>
            </a:r>
          </a:p>
          <a:p>
            <a:pPr marL="561342" lvl="1" indent="-280671" algn="l">
              <a:lnSpc>
                <a:spcPts val="3640"/>
              </a:lnSpc>
              <a:buFont typeface="Arial"/>
              <a:buChar char="•"/>
            </a:pPr>
            <a:r>
              <a:rPr lang="en-US" sz="2600">
                <a:solidFill>
                  <a:srgbClr val="000000"/>
                </a:solidFill>
                <a:latin typeface="Work Sans"/>
                <a:ea typeface="Work Sans"/>
                <a:cs typeface="Work Sans"/>
                <a:sym typeface="Work Sans"/>
              </a:rPr>
              <a:t>Build an interactive Business Intelligence dashboard using Tableau</a:t>
            </a:r>
          </a:p>
          <a:p>
            <a:pPr marL="561342" lvl="1" indent="-280671" algn="l">
              <a:lnSpc>
                <a:spcPts val="3640"/>
              </a:lnSpc>
              <a:buFont typeface="Arial"/>
              <a:buChar char="•"/>
            </a:pPr>
            <a:r>
              <a:rPr lang="en-US" sz="2600">
                <a:solidFill>
                  <a:srgbClr val="000000"/>
                </a:solidFill>
                <a:latin typeface="Work Sans"/>
                <a:ea typeface="Work Sans"/>
                <a:cs typeface="Work Sans"/>
                <a:sym typeface="Work Sans"/>
              </a:rPr>
              <a:t>Visualize genre distribution, ratings, yearly growth, and country-wise content availability</a:t>
            </a:r>
          </a:p>
          <a:p>
            <a:pPr marL="561342" lvl="1" indent="-280671" algn="l">
              <a:lnSpc>
                <a:spcPts val="3640"/>
              </a:lnSpc>
              <a:buFont typeface="Arial"/>
              <a:buChar char="•"/>
            </a:pPr>
            <a:r>
              <a:rPr lang="en-US" sz="2600">
                <a:solidFill>
                  <a:srgbClr val="000000"/>
                </a:solidFill>
                <a:latin typeface="Work Sans"/>
                <a:ea typeface="Work Sans"/>
                <a:cs typeface="Work Sans"/>
                <a:sym typeface="Work Sans"/>
              </a:rPr>
              <a:t>Define and track important KPIs related to Netflix content performance</a:t>
            </a:r>
          </a:p>
          <a:p>
            <a:pPr marL="561342" lvl="1" indent="-280671" algn="l">
              <a:lnSpc>
                <a:spcPts val="3640"/>
              </a:lnSpc>
              <a:buFont typeface="Arial"/>
              <a:buChar char="•"/>
            </a:pPr>
            <a:r>
              <a:rPr lang="en-US" sz="2600">
                <a:solidFill>
                  <a:srgbClr val="000000"/>
                </a:solidFill>
                <a:latin typeface="Work Sans"/>
                <a:ea typeface="Work Sans"/>
                <a:cs typeface="Work Sans"/>
                <a:sym typeface="Work Sans"/>
              </a:rPr>
              <a:t>Apply statistical validation techniques to support analytical findings</a:t>
            </a:r>
          </a:p>
          <a:p>
            <a:pPr marL="561342" lvl="1" indent="-280671" algn="l">
              <a:lnSpc>
                <a:spcPts val="3640"/>
              </a:lnSpc>
              <a:buFont typeface="Arial"/>
              <a:buChar char="•"/>
            </a:pPr>
            <a:r>
              <a:rPr lang="en-US" sz="2600">
                <a:solidFill>
                  <a:srgbClr val="000000"/>
                </a:solidFill>
                <a:latin typeface="Work Sans"/>
                <a:ea typeface="Work Sans"/>
                <a:cs typeface="Work Sans"/>
                <a:sym typeface="Work Sans"/>
              </a:rPr>
              <a:t>Present insights through effective data storytelling and visualization</a:t>
            </a:r>
          </a:p>
          <a:p>
            <a:pPr marL="561342" lvl="1" indent="-280671" algn="l">
              <a:lnSpc>
                <a:spcPts val="3640"/>
              </a:lnSpc>
              <a:buFont typeface="Arial"/>
              <a:buChar char="•"/>
            </a:pPr>
            <a:r>
              <a:rPr lang="en-US" sz="2600">
                <a:solidFill>
                  <a:srgbClr val="000000"/>
                </a:solidFill>
                <a:latin typeface="Work Sans"/>
                <a:ea typeface="Work Sans"/>
                <a:cs typeface="Work Sans"/>
                <a:sym typeface="Work Sans"/>
              </a:rPr>
              <a:t>Transform raw data into actionable business insights for decision-making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937700" y="0"/>
            <a:ext cx="6350300" cy="10287000"/>
            <a:chOff x="0" y="0"/>
            <a:chExt cx="1672507" cy="2709333"/>
          </a:xfrm>
        </p:grpSpPr>
        <p:sp>
          <p:nvSpPr>
            <p:cNvPr id="3" name="Freeform 3"/>
            <p:cNvSpPr/>
            <p:nvPr/>
          </p:nvSpPr>
          <p:spPr>
            <a:xfrm>
              <a:off x="0" y="0"/>
              <a:ext cx="1672507" cy="2709333"/>
            </a:xfrm>
            <a:custGeom>
              <a:avLst/>
              <a:gdLst/>
              <a:ahLst/>
              <a:cxnLst/>
              <a:rect l="l" t="t" r="r" b="b"/>
              <a:pathLst>
                <a:path w="1672507" h="2709333">
                  <a:moveTo>
                    <a:pt x="0" y="0"/>
                  </a:moveTo>
                  <a:lnTo>
                    <a:pt x="1672507" y="0"/>
                  </a:lnTo>
                  <a:lnTo>
                    <a:pt x="1672507" y="2709333"/>
                  </a:lnTo>
                  <a:lnTo>
                    <a:pt x="0" y="2709333"/>
                  </a:lnTo>
                  <a:close/>
                </a:path>
              </a:pathLst>
            </a:custGeom>
            <a:solidFill>
              <a:srgbClr val="FF2A27"/>
            </a:solidFill>
          </p:spPr>
        </p:sp>
        <p:sp>
          <p:nvSpPr>
            <p:cNvPr id="4" name="TextBox 4"/>
            <p:cNvSpPr txBox="1"/>
            <p:nvPr/>
          </p:nvSpPr>
          <p:spPr>
            <a:xfrm>
              <a:off x="0" y="-47625"/>
              <a:ext cx="1672507" cy="2756958"/>
            </a:xfrm>
            <a:prstGeom prst="rect">
              <a:avLst/>
            </a:prstGeom>
          </p:spPr>
          <p:txBody>
            <a:bodyPr lIns="50800" tIns="50800" rIns="50800" bIns="50800" rtlCol="0" anchor="ctr"/>
            <a:lstStyle/>
            <a:p>
              <a:pPr marL="0" lvl="0" indent="0" algn="ctr">
                <a:lnSpc>
                  <a:spcPts val="2519"/>
                </a:lnSpc>
              </a:pPr>
              <a:endParaRPr/>
            </a:p>
          </p:txBody>
        </p:sp>
      </p:grpSp>
      <p:grpSp>
        <p:nvGrpSpPr>
          <p:cNvPr id="5" name="Group 5"/>
          <p:cNvGrpSpPr/>
          <p:nvPr/>
        </p:nvGrpSpPr>
        <p:grpSpPr>
          <a:xfrm>
            <a:off x="16678239" y="447639"/>
            <a:ext cx="581061" cy="581061"/>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7" name="TextBox 7"/>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8" name="Freeform 8"/>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12882268" y="447639"/>
            <a:ext cx="3606578" cy="581061"/>
            <a:chOff x="0" y="0"/>
            <a:chExt cx="949881" cy="153037"/>
          </a:xfrm>
        </p:grpSpPr>
        <p:sp>
          <p:nvSpPr>
            <p:cNvPr id="10" name="Freeform 10"/>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000000">
                <a:alpha val="19608"/>
              </a:srgbClr>
            </a:solidFill>
          </p:spPr>
        </p:sp>
        <p:sp>
          <p:nvSpPr>
            <p:cNvPr id="11" name="TextBox 11"/>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sp>
        <p:nvSpPr>
          <p:cNvPr id="12" name="Freeform 12"/>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12176730" y="2258845"/>
            <a:ext cx="5872240" cy="6356958"/>
          </a:xfrm>
          <a:custGeom>
            <a:avLst/>
            <a:gdLst/>
            <a:ahLst/>
            <a:cxnLst/>
            <a:rect l="l" t="t" r="r" b="b"/>
            <a:pathLst>
              <a:path w="5872240" h="6356958">
                <a:moveTo>
                  <a:pt x="0" y="0"/>
                </a:moveTo>
                <a:lnTo>
                  <a:pt x="5872240" y="0"/>
                </a:lnTo>
                <a:lnTo>
                  <a:pt x="5872240" y="6356958"/>
                </a:lnTo>
                <a:lnTo>
                  <a:pt x="0" y="6356958"/>
                </a:lnTo>
                <a:lnTo>
                  <a:pt x="0" y="0"/>
                </a:lnTo>
                <a:close/>
              </a:path>
            </a:pathLst>
          </a:custGeom>
          <a:blipFill>
            <a:blip r:embed="rId4"/>
            <a:stretch>
              <a:fillRect/>
            </a:stretch>
          </a:blipFill>
        </p:spPr>
      </p:sp>
      <p:sp>
        <p:nvSpPr>
          <p:cNvPr id="14" name="TextBox 14"/>
          <p:cNvSpPr txBox="1"/>
          <p:nvPr/>
        </p:nvSpPr>
        <p:spPr>
          <a:xfrm>
            <a:off x="8583350" y="592796"/>
            <a:ext cx="1306476"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Movies</a:t>
            </a:r>
          </a:p>
        </p:txBody>
      </p:sp>
      <p:sp>
        <p:nvSpPr>
          <p:cNvPr id="15" name="TextBox 15"/>
          <p:cNvSpPr txBox="1"/>
          <p:nvPr/>
        </p:nvSpPr>
        <p:spPr>
          <a:xfrm>
            <a:off x="13596775" y="556242"/>
            <a:ext cx="1842261" cy="316230"/>
          </a:xfrm>
          <a:prstGeom prst="rect">
            <a:avLst/>
          </a:prstGeom>
        </p:spPr>
        <p:txBody>
          <a:bodyPr lIns="0" tIns="0" rIns="0" bIns="0" rtlCol="0" anchor="t">
            <a:spAutoFit/>
          </a:bodyPr>
          <a:lstStyle/>
          <a:p>
            <a:pPr marL="0" lvl="0" indent="0" algn="l">
              <a:lnSpc>
                <a:spcPts val="2519"/>
              </a:lnSpc>
              <a:spcBef>
                <a:spcPct val="0"/>
              </a:spcBef>
            </a:pPr>
            <a:r>
              <a:rPr lang="en-US" sz="1799">
                <a:solidFill>
                  <a:srgbClr val="FFFFFF"/>
                </a:solidFill>
                <a:latin typeface="Work Sans"/>
                <a:ea typeface="Work Sans"/>
                <a:cs typeface="Work Sans"/>
                <a:sym typeface="Work Sans"/>
              </a:rPr>
              <a:t>Search...</a:t>
            </a:r>
          </a:p>
        </p:txBody>
      </p:sp>
      <p:sp>
        <p:nvSpPr>
          <p:cNvPr id="16" name="TextBox 16"/>
          <p:cNvSpPr txBox="1"/>
          <p:nvPr/>
        </p:nvSpPr>
        <p:spPr>
          <a:xfrm>
            <a:off x="5957782" y="596435"/>
            <a:ext cx="1482194"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Shows</a:t>
            </a:r>
          </a:p>
        </p:txBody>
      </p:sp>
      <p:sp>
        <p:nvSpPr>
          <p:cNvPr id="17" name="TextBox 17"/>
          <p:cNvSpPr txBox="1"/>
          <p:nvPr/>
        </p:nvSpPr>
        <p:spPr>
          <a:xfrm>
            <a:off x="3555274" y="547943"/>
            <a:ext cx="1267879"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Home</a:t>
            </a:r>
          </a:p>
        </p:txBody>
      </p:sp>
      <p:sp>
        <p:nvSpPr>
          <p:cNvPr id="18" name="TextBox 18"/>
          <p:cNvSpPr txBox="1"/>
          <p:nvPr/>
        </p:nvSpPr>
        <p:spPr>
          <a:xfrm>
            <a:off x="1028700" y="519729"/>
            <a:ext cx="2725071" cy="389297"/>
          </a:xfrm>
          <a:prstGeom prst="rect">
            <a:avLst/>
          </a:prstGeom>
        </p:spPr>
        <p:txBody>
          <a:bodyPr lIns="0" tIns="0" rIns="0" bIns="0" rtlCol="0" anchor="t">
            <a:spAutoFit/>
          </a:bodyPr>
          <a:lstStyle/>
          <a:p>
            <a:pPr marL="0" lvl="0" indent="0" algn="l">
              <a:lnSpc>
                <a:spcPts val="3217"/>
              </a:lnSpc>
              <a:spcBef>
                <a:spcPct val="0"/>
              </a:spcBef>
            </a:pPr>
            <a:r>
              <a:rPr lang="en-US" sz="2298">
                <a:solidFill>
                  <a:srgbClr val="FF2A27"/>
                </a:solidFill>
                <a:latin typeface="DM Sans"/>
                <a:ea typeface="DM Sans"/>
                <a:cs typeface="DM Sans"/>
                <a:sym typeface="DM Sans"/>
              </a:rPr>
              <a:t>NETFLIX</a:t>
            </a:r>
          </a:p>
        </p:txBody>
      </p:sp>
      <p:sp>
        <p:nvSpPr>
          <p:cNvPr id="19" name="TextBox 19"/>
          <p:cNvSpPr txBox="1"/>
          <p:nvPr/>
        </p:nvSpPr>
        <p:spPr>
          <a:xfrm>
            <a:off x="2025740" y="1692064"/>
            <a:ext cx="7864086" cy="1019261"/>
          </a:xfrm>
          <a:prstGeom prst="rect">
            <a:avLst/>
          </a:prstGeom>
        </p:spPr>
        <p:txBody>
          <a:bodyPr lIns="0" tIns="0" rIns="0" bIns="0" rtlCol="0" anchor="t">
            <a:spAutoFit/>
          </a:bodyPr>
          <a:lstStyle/>
          <a:p>
            <a:pPr marL="0" lvl="0" indent="0" algn="ctr">
              <a:lnSpc>
                <a:spcPts val="8395"/>
              </a:lnSpc>
            </a:pPr>
            <a:r>
              <a:rPr lang="en-US" sz="5996" b="1">
                <a:solidFill>
                  <a:srgbClr val="000000"/>
                </a:solidFill>
                <a:latin typeface="DM Sans Bold"/>
                <a:ea typeface="DM Sans Bold"/>
                <a:cs typeface="DM Sans Bold"/>
                <a:sym typeface="DM Sans Bold"/>
              </a:rPr>
              <a:t>DATASET OVERVIEW</a:t>
            </a:r>
          </a:p>
        </p:txBody>
      </p:sp>
      <p:sp>
        <p:nvSpPr>
          <p:cNvPr id="20" name="TextBox 20"/>
          <p:cNvSpPr txBox="1"/>
          <p:nvPr/>
        </p:nvSpPr>
        <p:spPr>
          <a:xfrm>
            <a:off x="1028700" y="3547310"/>
            <a:ext cx="10467869" cy="4105910"/>
          </a:xfrm>
          <a:prstGeom prst="rect">
            <a:avLst/>
          </a:prstGeom>
        </p:spPr>
        <p:txBody>
          <a:bodyPr lIns="0" tIns="0" rIns="0" bIns="0" rtlCol="0" anchor="t">
            <a:spAutoFit/>
          </a:bodyPr>
          <a:lstStyle/>
          <a:p>
            <a:pPr algn="just">
              <a:lnSpc>
                <a:spcPts val="3640"/>
              </a:lnSpc>
              <a:spcBef>
                <a:spcPct val="0"/>
              </a:spcBef>
            </a:pPr>
            <a:r>
              <a:rPr lang="en-US" sz="2600">
                <a:solidFill>
                  <a:srgbClr val="000000"/>
                </a:solidFill>
                <a:latin typeface="Work Sans"/>
                <a:ea typeface="Work Sans"/>
                <a:cs typeface="Work Sans"/>
                <a:sym typeface="Work Sans"/>
              </a:rPr>
              <a:t>• Dataset: Netflix Movies &amp; TV Shows Dataset</a:t>
            </a:r>
          </a:p>
          <a:p>
            <a:pPr algn="just">
              <a:lnSpc>
                <a:spcPts val="3640"/>
              </a:lnSpc>
              <a:spcBef>
                <a:spcPct val="0"/>
              </a:spcBef>
            </a:pPr>
            <a:r>
              <a:rPr lang="en-US" sz="2600">
                <a:solidFill>
                  <a:srgbClr val="000000"/>
                </a:solidFill>
                <a:latin typeface="Work Sans"/>
                <a:ea typeface="Work Sans"/>
                <a:cs typeface="Work Sans"/>
                <a:sym typeface="Work Sans"/>
              </a:rPr>
              <a:t>• Total Titles Analyzed: 6,233</a:t>
            </a:r>
          </a:p>
          <a:p>
            <a:pPr algn="just">
              <a:lnSpc>
                <a:spcPts val="3640"/>
              </a:lnSpc>
              <a:spcBef>
                <a:spcPct val="0"/>
              </a:spcBef>
            </a:pPr>
            <a:r>
              <a:rPr lang="en-US" sz="2600">
                <a:solidFill>
                  <a:srgbClr val="000000"/>
                </a:solidFill>
                <a:latin typeface="Work Sans"/>
                <a:ea typeface="Work Sans"/>
                <a:cs typeface="Work Sans"/>
                <a:sym typeface="Work Sans"/>
              </a:rPr>
              <a:t>• Total Countries: 554</a:t>
            </a:r>
          </a:p>
          <a:p>
            <a:pPr algn="just">
              <a:lnSpc>
                <a:spcPts val="3640"/>
              </a:lnSpc>
              <a:spcBef>
                <a:spcPct val="0"/>
              </a:spcBef>
            </a:pPr>
            <a:r>
              <a:rPr lang="en-US" sz="2600">
                <a:solidFill>
                  <a:srgbClr val="000000"/>
                </a:solidFill>
                <a:latin typeface="Work Sans"/>
                <a:ea typeface="Work Sans"/>
                <a:cs typeface="Work Sans"/>
                <a:sym typeface="Work Sans"/>
              </a:rPr>
              <a:t>• Content Types: Movies and TV Shows</a:t>
            </a:r>
          </a:p>
          <a:p>
            <a:pPr algn="just">
              <a:lnSpc>
                <a:spcPts val="3640"/>
              </a:lnSpc>
              <a:spcBef>
                <a:spcPct val="0"/>
              </a:spcBef>
            </a:pPr>
            <a:r>
              <a:rPr lang="en-US" sz="2600">
                <a:solidFill>
                  <a:srgbClr val="000000"/>
                </a:solidFill>
                <a:latin typeface="Work Sans"/>
                <a:ea typeface="Work Sans"/>
                <a:cs typeface="Work Sans"/>
                <a:sym typeface="Work Sans"/>
              </a:rPr>
              <a:t>• Key Columns Used: Title, Type, Country, Rating, Genre, Date Added</a:t>
            </a:r>
          </a:p>
          <a:p>
            <a:pPr algn="just">
              <a:lnSpc>
                <a:spcPts val="3640"/>
              </a:lnSpc>
              <a:spcBef>
                <a:spcPct val="0"/>
              </a:spcBef>
            </a:pPr>
            <a:r>
              <a:rPr lang="en-US" sz="2600">
                <a:solidFill>
                  <a:srgbClr val="000000"/>
                </a:solidFill>
                <a:latin typeface="Work Sans"/>
                <a:ea typeface="Work Sans"/>
                <a:cs typeface="Work Sans"/>
                <a:sym typeface="Work Sans"/>
              </a:rPr>
              <a:t>• Tools Used: Python, Pandas, Tableau, Canva</a:t>
            </a:r>
          </a:p>
          <a:p>
            <a:pPr algn="just">
              <a:lnSpc>
                <a:spcPts val="3640"/>
              </a:lnSpc>
              <a:spcBef>
                <a:spcPct val="0"/>
              </a:spcBef>
            </a:pPr>
            <a:r>
              <a:rPr lang="en-US" sz="2600">
                <a:solidFill>
                  <a:srgbClr val="000000"/>
                </a:solidFill>
                <a:latin typeface="Work Sans"/>
                <a:ea typeface="Work Sans"/>
                <a:cs typeface="Work Sans"/>
                <a:sym typeface="Work Sans"/>
              </a:rPr>
              <a:t>• Objective: Analyze content trends and build an interactive BI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6678239" y="447639"/>
            <a:ext cx="581061" cy="581061"/>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2A27"/>
            </a:solidFill>
          </p:spPr>
        </p:sp>
        <p:sp>
          <p:nvSpPr>
            <p:cNvPr id="5" name="TextBox 5"/>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6" name="Freeform 6"/>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2882268" y="447639"/>
            <a:ext cx="3606578" cy="581061"/>
            <a:chOff x="0" y="0"/>
            <a:chExt cx="949881" cy="153037"/>
          </a:xfrm>
        </p:grpSpPr>
        <p:sp>
          <p:nvSpPr>
            <p:cNvPr id="8" name="Freeform 8"/>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000000">
                <a:alpha val="19608"/>
              </a:srgbClr>
            </a:solidFill>
          </p:spPr>
        </p:sp>
        <p:sp>
          <p:nvSpPr>
            <p:cNvPr id="9" name="TextBox 9"/>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sp>
        <p:nvSpPr>
          <p:cNvPr id="10" name="Freeform 10"/>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330807" y="3782124"/>
            <a:ext cx="8252543" cy="5476176"/>
          </a:xfrm>
          <a:custGeom>
            <a:avLst/>
            <a:gdLst/>
            <a:ahLst/>
            <a:cxnLst/>
            <a:rect l="l" t="t" r="r" b="b"/>
            <a:pathLst>
              <a:path w="8252543" h="5476176">
                <a:moveTo>
                  <a:pt x="0" y="0"/>
                </a:moveTo>
                <a:lnTo>
                  <a:pt x="8252543" y="0"/>
                </a:lnTo>
                <a:lnTo>
                  <a:pt x="8252543" y="5476176"/>
                </a:lnTo>
                <a:lnTo>
                  <a:pt x="0" y="5476176"/>
                </a:lnTo>
                <a:lnTo>
                  <a:pt x="0" y="0"/>
                </a:lnTo>
                <a:close/>
              </a:path>
            </a:pathLst>
          </a:custGeom>
          <a:blipFill>
            <a:blip r:embed="rId5"/>
            <a:stretch>
              <a:fillRect t="-476" b="-1056"/>
            </a:stretch>
          </a:blipFill>
        </p:spPr>
      </p:sp>
      <p:sp>
        <p:nvSpPr>
          <p:cNvPr id="12" name="TextBox 12"/>
          <p:cNvSpPr txBox="1"/>
          <p:nvPr/>
        </p:nvSpPr>
        <p:spPr>
          <a:xfrm>
            <a:off x="8583350" y="556242"/>
            <a:ext cx="1306476"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Sign In</a:t>
            </a:r>
          </a:p>
        </p:txBody>
      </p:sp>
      <p:sp>
        <p:nvSpPr>
          <p:cNvPr id="13" name="TextBox 13"/>
          <p:cNvSpPr txBox="1"/>
          <p:nvPr/>
        </p:nvSpPr>
        <p:spPr>
          <a:xfrm>
            <a:off x="13596775" y="556242"/>
            <a:ext cx="1842261" cy="316230"/>
          </a:xfrm>
          <a:prstGeom prst="rect">
            <a:avLst/>
          </a:prstGeom>
        </p:spPr>
        <p:txBody>
          <a:bodyPr lIns="0" tIns="0" rIns="0" bIns="0" rtlCol="0" anchor="t">
            <a:spAutoFit/>
          </a:bodyPr>
          <a:lstStyle/>
          <a:p>
            <a:pPr marL="0" lvl="0" indent="0" algn="l">
              <a:lnSpc>
                <a:spcPts val="2519"/>
              </a:lnSpc>
              <a:spcBef>
                <a:spcPct val="0"/>
              </a:spcBef>
            </a:pPr>
            <a:r>
              <a:rPr lang="en-US" sz="1799">
                <a:solidFill>
                  <a:srgbClr val="FFFFFF"/>
                </a:solidFill>
                <a:latin typeface="Work Sans"/>
                <a:ea typeface="Work Sans"/>
                <a:cs typeface="Work Sans"/>
                <a:sym typeface="Work Sans"/>
              </a:rPr>
              <a:t>Search Now...</a:t>
            </a:r>
          </a:p>
        </p:txBody>
      </p:sp>
      <p:sp>
        <p:nvSpPr>
          <p:cNvPr id="14" name="TextBox 14"/>
          <p:cNvSpPr txBox="1"/>
          <p:nvPr/>
        </p:nvSpPr>
        <p:spPr>
          <a:xfrm>
            <a:off x="6281838" y="556242"/>
            <a:ext cx="1482194"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Browse</a:t>
            </a:r>
          </a:p>
        </p:txBody>
      </p:sp>
      <p:sp>
        <p:nvSpPr>
          <p:cNvPr id="15" name="TextBox 15"/>
          <p:cNvSpPr txBox="1"/>
          <p:nvPr/>
        </p:nvSpPr>
        <p:spPr>
          <a:xfrm>
            <a:off x="4194642" y="556242"/>
            <a:ext cx="1267879"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Home</a:t>
            </a:r>
          </a:p>
        </p:txBody>
      </p:sp>
      <p:sp>
        <p:nvSpPr>
          <p:cNvPr id="16" name="TextBox 16"/>
          <p:cNvSpPr txBox="1"/>
          <p:nvPr/>
        </p:nvSpPr>
        <p:spPr>
          <a:xfrm>
            <a:off x="1028700" y="519729"/>
            <a:ext cx="2725071" cy="389297"/>
          </a:xfrm>
          <a:prstGeom prst="rect">
            <a:avLst/>
          </a:prstGeom>
        </p:spPr>
        <p:txBody>
          <a:bodyPr lIns="0" tIns="0" rIns="0" bIns="0" rtlCol="0" anchor="t">
            <a:spAutoFit/>
          </a:bodyPr>
          <a:lstStyle/>
          <a:p>
            <a:pPr marL="0" lvl="0" indent="0" algn="l">
              <a:lnSpc>
                <a:spcPts val="3217"/>
              </a:lnSpc>
              <a:spcBef>
                <a:spcPct val="0"/>
              </a:spcBef>
            </a:pPr>
            <a:r>
              <a:rPr lang="en-US" sz="2298">
                <a:solidFill>
                  <a:srgbClr val="FF2A27"/>
                </a:solidFill>
                <a:latin typeface="DM Sans"/>
                <a:ea typeface="DM Sans"/>
                <a:cs typeface="DM Sans"/>
                <a:sym typeface="DM Sans"/>
              </a:rPr>
              <a:t>NETFLIX</a:t>
            </a:r>
          </a:p>
        </p:txBody>
      </p:sp>
      <p:sp>
        <p:nvSpPr>
          <p:cNvPr id="17" name="TextBox 17"/>
          <p:cNvSpPr txBox="1"/>
          <p:nvPr/>
        </p:nvSpPr>
        <p:spPr>
          <a:xfrm>
            <a:off x="3772815" y="1862811"/>
            <a:ext cx="10927544" cy="1718310"/>
          </a:xfrm>
          <a:prstGeom prst="rect">
            <a:avLst/>
          </a:prstGeom>
        </p:spPr>
        <p:txBody>
          <a:bodyPr lIns="0" tIns="0" rIns="0" bIns="0" rtlCol="0" anchor="t">
            <a:spAutoFit/>
          </a:bodyPr>
          <a:lstStyle/>
          <a:p>
            <a:pPr marL="0" lvl="0" indent="0" algn="ctr">
              <a:lnSpc>
                <a:spcPts val="6720"/>
              </a:lnSpc>
            </a:pPr>
            <a:r>
              <a:rPr lang="en-US" sz="6000" b="1">
                <a:solidFill>
                  <a:srgbClr val="FF2A27"/>
                </a:solidFill>
                <a:latin typeface="DM Sans Bold"/>
                <a:ea typeface="DM Sans Bold"/>
                <a:cs typeface="DM Sans Bold"/>
                <a:sym typeface="DM Sans Bold"/>
              </a:rPr>
              <a:t>YEAR-WISE CONTENT GROWTH ANALYSIS</a:t>
            </a:r>
          </a:p>
        </p:txBody>
      </p:sp>
      <p:sp>
        <p:nvSpPr>
          <p:cNvPr id="18" name="TextBox 18"/>
          <p:cNvSpPr txBox="1"/>
          <p:nvPr/>
        </p:nvSpPr>
        <p:spPr>
          <a:xfrm>
            <a:off x="8400535" y="4485996"/>
            <a:ext cx="9987612" cy="36487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FFFFFF"/>
                </a:solidFill>
                <a:latin typeface="Work Sans"/>
                <a:ea typeface="Work Sans"/>
                <a:cs typeface="Work Sans"/>
                <a:sym typeface="Work Sans"/>
              </a:rPr>
              <a:t>Netflix content library expanded rapidly after 2015</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Significant increase in Movies and TV Shows observed over the years</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Peak content additions were recorded between 2017–2019</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Movies contribute a larger share compared to TV Shows</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Growth trend indicates increasing global audience demand and platform expansion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6678239" y="447639"/>
            <a:ext cx="581061" cy="581061"/>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2A27"/>
            </a:solidFill>
          </p:spPr>
        </p:sp>
        <p:sp>
          <p:nvSpPr>
            <p:cNvPr id="5" name="TextBox 5"/>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6" name="Freeform 6"/>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2882268" y="447639"/>
            <a:ext cx="3606578" cy="581061"/>
            <a:chOff x="0" y="0"/>
            <a:chExt cx="949881" cy="153037"/>
          </a:xfrm>
        </p:grpSpPr>
        <p:sp>
          <p:nvSpPr>
            <p:cNvPr id="8" name="Freeform 8"/>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000000">
                <a:alpha val="19608"/>
              </a:srgbClr>
            </a:solidFill>
          </p:spPr>
        </p:sp>
        <p:sp>
          <p:nvSpPr>
            <p:cNvPr id="9" name="TextBox 9"/>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sp>
        <p:nvSpPr>
          <p:cNvPr id="10" name="Freeform 10"/>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9274951" y="3432896"/>
            <a:ext cx="8643649" cy="4862052"/>
          </a:xfrm>
          <a:custGeom>
            <a:avLst/>
            <a:gdLst/>
            <a:ahLst/>
            <a:cxnLst/>
            <a:rect l="l" t="t" r="r" b="b"/>
            <a:pathLst>
              <a:path w="8643649" h="4862052">
                <a:moveTo>
                  <a:pt x="0" y="0"/>
                </a:moveTo>
                <a:lnTo>
                  <a:pt x="8643648" y="0"/>
                </a:lnTo>
                <a:lnTo>
                  <a:pt x="8643648" y="4862053"/>
                </a:lnTo>
                <a:lnTo>
                  <a:pt x="0" y="4862053"/>
                </a:lnTo>
                <a:lnTo>
                  <a:pt x="0" y="0"/>
                </a:lnTo>
                <a:close/>
              </a:path>
            </a:pathLst>
          </a:custGeom>
          <a:blipFill>
            <a:blip r:embed="rId5"/>
            <a:stretch>
              <a:fillRect/>
            </a:stretch>
          </a:blipFill>
        </p:spPr>
      </p:sp>
      <p:sp>
        <p:nvSpPr>
          <p:cNvPr id="12" name="TextBox 12"/>
          <p:cNvSpPr txBox="1"/>
          <p:nvPr/>
        </p:nvSpPr>
        <p:spPr>
          <a:xfrm>
            <a:off x="8583350" y="556242"/>
            <a:ext cx="1306476"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Sign In</a:t>
            </a:r>
          </a:p>
        </p:txBody>
      </p:sp>
      <p:sp>
        <p:nvSpPr>
          <p:cNvPr id="13" name="TextBox 13"/>
          <p:cNvSpPr txBox="1"/>
          <p:nvPr/>
        </p:nvSpPr>
        <p:spPr>
          <a:xfrm>
            <a:off x="13596775" y="556242"/>
            <a:ext cx="1842261" cy="316230"/>
          </a:xfrm>
          <a:prstGeom prst="rect">
            <a:avLst/>
          </a:prstGeom>
        </p:spPr>
        <p:txBody>
          <a:bodyPr lIns="0" tIns="0" rIns="0" bIns="0" rtlCol="0" anchor="t">
            <a:spAutoFit/>
          </a:bodyPr>
          <a:lstStyle/>
          <a:p>
            <a:pPr marL="0" lvl="0" indent="0" algn="l">
              <a:lnSpc>
                <a:spcPts val="2519"/>
              </a:lnSpc>
              <a:spcBef>
                <a:spcPct val="0"/>
              </a:spcBef>
            </a:pPr>
            <a:r>
              <a:rPr lang="en-US" sz="1799">
                <a:solidFill>
                  <a:srgbClr val="FFFFFF"/>
                </a:solidFill>
                <a:latin typeface="Work Sans"/>
                <a:ea typeface="Work Sans"/>
                <a:cs typeface="Work Sans"/>
                <a:sym typeface="Work Sans"/>
              </a:rPr>
              <a:t>Search Now...</a:t>
            </a:r>
          </a:p>
        </p:txBody>
      </p:sp>
      <p:sp>
        <p:nvSpPr>
          <p:cNvPr id="14" name="TextBox 14"/>
          <p:cNvSpPr txBox="1"/>
          <p:nvPr/>
        </p:nvSpPr>
        <p:spPr>
          <a:xfrm>
            <a:off x="6281838" y="556242"/>
            <a:ext cx="1482194"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Browse</a:t>
            </a:r>
          </a:p>
        </p:txBody>
      </p:sp>
      <p:sp>
        <p:nvSpPr>
          <p:cNvPr id="15" name="TextBox 15"/>
          <p:cNvSpPr txBox="1"/>
          <p:nvPr/>
        </p:nvSpPr>
        <p:spPr>
          <a:xfrm>
            <a:off x="4194642" y="556242"/>
            <a:ext cx="1267879"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Home</a:t>
            </a:r>
          </a:p>
        </p:txBody>
      </p:sp>
      <p:sp>
        <p:nvSpPr>
          <p:cNvPr id="16" name="TextBox 16"/>
          <p:cNvSpPr txBox="1"/>
          <p:nvPr/>
        </p:nvSpPr>
        <p:spPr>
          <a:xfrm>
            <a:off x="1028700" y="519729"/>
            <a:ext cx="2725071" cy="389297"/>
          </a:xfrm>
          <a:prstGeom prst="rect">
            <a:avLst/>
          </a:prstGeom>
        </p:spPr>
        <p:txBody>
          <a:bodyPr lIns="0" tIns="0" rIns="0" bIns="0" rtlCol="0" anchor="t">
            <a:spAutoFit/>
          </a:bodyPr>
          <a:lstStyle/>
          <a:p>
            <a:pPr marL="0" lvl="0" indent="0" algn="l">
              <a:lnSpc>
                <a:spcPts val="3217"/>
              </a:lnSpc>
              <a:spcBef>
                <a:spcPct val="0"/>
              </a:spcBef>
            </a:pPr>
            <a:r>
              <a:rPr lang="en-US" sz="2298">
                <a:solidFill>
                  <a:srgbClr val="FF2A27"/>
                </a:solidFill>
                <a:latin typeface="DM Sans"/>
                <a:ea typeface="DM Sans"/>
                <a:cs typeface="DM Sans"/>
                <a:sym typeface="DM Sans"/>
              </a:rPr>
              <a:t>NETFLIX</a:t>
            </a:r>
          </a:p>
        </p:txBody>
      </p:sp>
      <p:sp>
        <p:nvSpPr>
          <p:cNvPr id="17" name="TextBox 17"/>
          <p:cNvSpPr txBox="1"/>
          <p:nvPr/>
        </p:nvSpPr>
        <p:spPr>
          <a:xfrm>
            <a:off x="3590362" y="1708890"/>
            <a:ext cx="10927544" cy="870585"/>
          </a:xfrm>
          <a:prstGeom prst="rect">
            <a:avLst/>
          </a:prstGeom>
        </p:spPr>
        <p:txBody>
          <a:bodyPr lIns="0" tIns="0" rIns="0" bIns="0" rtlCol="0" anchor="t">
            <a:spAutoFit/>
          </a:bodyPr>
          <a:lstStyle/>
          <a:p>
            <a:pPr marL="0" lvl="0" indent="0" algn="ctr">
              <a:lnSpc>
                <a:spcPts val="6720"/>
              </a:lnSpc>
            </a:pPr>
            <a:r>
              <a:rPr lang="en-US" sz="6000" b="1">
                <a:solidFill>
                  <a:srgbClr val="FF2A27"/>
                </a:solidFill>
                <a:latin typeface="DM Sans Bold"/>
                <a:ea typeface="DM Sans Bold"/>
                <a:cs typeface="DM Sans Bold"/>
                <a:sym typeface="DM Sans Bold"/>
              </a:rPr>
              <a:t>TOP GENRE ANALYSIS</a:t>
            </a:r>
          </a:p>
        </p:txBody>
      </p:sp>
      <p:sp>
        <p:nvSpPr>
          <p:cNvPr id="18" name="TextBox 18"/>
          <p:cNvSpPr txBox="1"/>
          <p:nvPr/>
        </p:nvSpPr>
        <p:spPr>
          <a:xfrm>
            <a:off x="884562" y="3553793"/>
            <a:ext cx="8259438" cy="45631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FFFFFF"/>
                </a:solidFill>
                <a:latin typeface="Work Sans"/>
                <a:ea typeface="Work Sans"/>
                <a:cs typeface="Work Sans"/>
                <a:sym typeface="Work Sans"/>
              </a:rPr>
              <a:t>Documentaries and Stand-Up Comedy are among the most popular genres on Netflix.</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Drama-based content shows consistently high representation in the dataset.</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Family and Kids content also contribute significantly to viewer diversity.</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Genre distribution highlights Netflix’s strategy of targeting multiple audience segments.</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Content variety helps improve global audience engagement and platform retention.</a:t>
            </a:r>
          </a:p>
        </p:txBody>
      </p:sp>
      <p:sp>
        <p:nvSpPr>
          <p:cNvPr id="19" name="TextBox 19"/>
          <p:cNvSpPr txBox="1"/>
          <p:nvPr/>
        </p:nvSpPr>
        <p:spPr>
          <a:xfrm>
            <a:off x="1259167" y="8809990"/>
            <a:ext cx="16031568" cy="448310"/>
          </a:xfrm>
          <a:prstGeom prst="rect">
            <a:avLst/>
          </a:prstGeom>
        </p:spPr>
        <p:txBody>
          <a:bodyPr lIns="0" tIns="0" rIns="0" bIns="0" rtlCol="0" anchor="t">
            <a:spAutoFit/>
          </a:bodyPr>
          <a:lstStyle/>
          <a:p>
            <a:pPr algn="ctr">
              <a:lnSpc>
                <a:spcPts val="3640"/>
              </a:lnSpc>
              <a:spcBef>
                <a:spcPct val="0"/>
              </a:spcBef>
            </a:pPr>
            <a:r>
              <a:rPr lang="en-US" sz="2600">
                <a:solidFill>
                  <a:srgbClr val="FFFFFF"/>
                </a:solidFill>
                <a:latin typeface="Work Sans"/>
                <a:ea typeface="Work Sans"/>
                <a:cs typeface="Work Sans"/>
                <a:sym typeface="Work Sans"/>
              </a:rPr>
              <a:t>Netflix focuses heavily on diverse storytelling genres to maximize audience reach and engagement.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78239" y="447639"/>
            <a:ext cx="581061" cy="581061"/>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2A27"/>
            </a:solidFill>
          </p:spPr>
        </p:sp>
        <p:sp>
          <p:nvSpPr>
            <p:cNvPr id="4" name="TextBox 4"/>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5" name="Freeform 5"/>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882268" y="447639"/>
            <a:ext cx="3606578" cy="581061"/>
            <a:chOff x="0" y="0"/>
            <a:chExt cx="949881" cy="153037"/>
          </a:xfrm>
        </p:grpSpPr>
        <p:sp>
          <p:nvSpPr>
            <p:cNvPr id="7" name="Freeform 7"/>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000000">
                <a:alpha val="19608"/>
              </a:srgbClr>
            </a:solidFill>
          </p:spPr>
        </p:sp>
        <p:sp>
          <p:nvSpPr>
            <p:cNvPr id="8" name="TextBox 8"/>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sp>
        <p:nvSpPr>
          <p:cNvPr id="9" name="Freeform 9"/>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12308516" y="2113919"/>
            <a:ext cx="5979484" cy="8480636"/>
            <a:chOff x="0" y="0"/>
            <a:chExt cx="1574844" cy="2233583"/>
          </a:xfrm>
        </p:grpSpPr>
        <p:sp>
          <p:nvSpPr>
            <p:cNvPr id="11" name="Freeform 11"/>
            <p:cNvSpPr/>
            <p:nvPr/>
          </p:nvSpPr>
          <p:spPr>
            <a:xfrm>
              <a:off x="0" y="0"/>
              <a:ext cx="1574844" cy="2233583"/>
            </a:xfrm>
            <a:custGeom>
              <a:avLst/>
              <a:gdLst/>
              <a:ahLst/>
              <a:cxnLst/>
              <a:rect l="l" t="t" r="r" b="b"/>
              <a:pathLst>
                <a:path w="1574844" h="2233583">
                  <a:moveTo>
                    <a:pt x="0" y="0"/>
                  </a:moveTo>
                  <a:lnTo>
                    <a:pt x="1574844" y="0"/>
                  </a:lnTo>
                  <a:lnTo>
                    <a:pt x="1574844" y="2233583"/>
                  </a:lnTo>
                  <a:lnTo>
                    <a:pt x="0" y="2233583"/>
                  </a:lnTo>
                  <a:close/>
                </a:path>
              </a:pathLst>
            </a:custGeom>
            <a:solidFill>
              <a:srgbClr val="FF2A27"/>
            </a:solidFill>
          </p:spPr>
        </p:sp>
        <p:sp>
          <p:nvSpPr>
            <p:cNvPr id="12" name="TextBox 12"/>
            <p:cNvSpPr txBox="1"/>
            <p:nvPr/>
          </p:nvSpPr>
          <p:spPr>
            <a:xfrm>
              <a:off x="0" y="-47625"/>
              <a:ext cx="1574844" cy="2281208"/>
            </a:xfrm>
            <a:prstGeom prst="rect">
              <a:avLst/>
            </a:prstGeom>
          </p:spPr>
          <p:txBody>
            <a:bodyPr lIns="50800" tIns="50800" rIns="50800" bIns="50800" rtlCol="0" anchor="ctr"/>
            <a:lstStyle/>
            <a:p>
              <a:pPr marL="0" lvl="0" indent="0" algn="ctr">
                <a:lnSpc>
                  <a:spcPts val="2519"/>
                </a:lnSpc>
              </a:pPr>
              <a:endParaRPr/>
            </a:p>
          </p:txBody>
        </p:sp>
      </p:grpSp>
      <p:grpSp>
        <p:nvGrpSpPr>
          <p:cNvPr id="13" name="Group 13"/>
          <p:cNvGrpSpPr/>
          <p:nvPr/>
        </p:nvGrpSpPr>
        <p:grpSpPr>
          <a:xfrm>
            <a:off x="9144000" y="3142619"/>
            <a:ext cx="9144000" cy="6423236"/>
            <a:chOff x="0" y="0"/>
            <a:chExt cx="1416645" cy="995127"/>
          </a:xfrm>
        </p:grpSpPr>
        <p:sp>
          <p:nvSpPr>
            <p:cNvPr id="14" name="Freeform 14"/>
            <p:cNvSpPr/>
            <p:nvPr/>
          </p:nvSpPr>
          <p:spPr>
            <a:xfrm>
              <a:off x="0" y="0"/>
              <a:ext cx="1416645" cy="995127"/>
            </a:xfrm>
            <a:custGeom>
              <a:avLst/>
              <a:gdLst/>
              <a:ahLst/>
              <a:cxnLst/>
              <a:rect l="l" t="t" r="r" b="b"/>
              <a:pathLst>
                <a:path w="1416645" h="995127">
                  <a:moveTo>
                    <a:pt x="0" y="0"/>
                  </a:moveTo>
                  <a:lnTo>
                    <a:pt x="1416645" y="0"/>
                  </a:lnTo>
                  <a:lnTo>
                    <a:pt x="1416645" y="995127"/>
                  </a:lnTo>
                  <a:lnTo>
                    <a:pt x="0" y="995127"/>
                  </a:lnTo>
                  <a:close/>
                </a:path>
              </a:pathLst>
            </a:custGeom>
            <a:blipFill>
              <a:blip r:embed="rId4"/>
              <a:stretch>
                <a:fillRect t="-12568" b="-12568"/>
              </a:stretch>
            </a:blipFill>
          </p:spPr>
        </p:sp>
      </p:grpSp>
      <p:grpSp>
        <p:nvGrpSpPr>
          <p:cNvPr id="15" name="Group 15"/>
          <p:cNvGrpSpPr/>
          <p:nvPr/>
        </p:nvGrpSpPr>
        <p:grpSpPr>
          <a:xfrm>
            <a:off x="1028700" y="8920685"/>
            <a:ext cx="2340862" cy="581061"/>
            <a:chOff x="0" y="0"/>
            <a:chExt cx="616523" cy="153037"/>
          </a:xfrm>
        </p:grpSpPr>
        <p:sp>
          <p:nvSpPr>
            <p:cNvPr id="16" name="Freeform 16"/>
            <p:cNvSpPr/>
            <p:nvPr/>
          </p:nvSpPr>
          <p:spPr>
            <a:xfrm>
              <a:off x="0" y="0"/>
              <a:ext cx="616523" cy="153037"/>
            </a:xfrm>
            <a:custGeom>
              <a:avLst/>
              <a:gdLst/>
              <a:ahLst/>
              <a:cxnLst/>
              <a:rect l="l" t="t" r="r" b="b"/>
              <a:pathLst>
                <a:path w="616523" h="153037">
                  <a:moveTo>
                    <a:pt x="0" y="0"/>
                  </a:moveTo>
                  <a:lnTo>
                    <a:pt x="616523" y="0"/>
                  </a:lnTo>
                  <a:lnTo>
                    <a:pt x="616523" y="153037"/>
                  </a:lnTo>
                  <a:lnTo>
                    <a:pt x="0" y="153037"/>
                  </a:lnTo>
                  <a:close/>
                </a:path>
              </a:pathLst>
            </a:custGeom>
            <a:solidFill>
              <a:srgbClr val="FF2A27"/>
            </a:solidFill>
          </p:spPr>
        </p:sp>
        <p:sp>
          <p:nvSpPr>
            <p:cNvPr id="17" name="TextBox 17"/>
            <p:cNvSpPr txBox="1"/>
            <p:nvPr/>
          </p:nvSpPr>
          <p:spPr>
            <a:xfrm>
              <a:off x="0" y="-47625"/>
              <a:ext cx="616523" cy="200662"/>
            </a:xfrm>
            <a:prstGeom prst="rect">
              <a:avLst/>
            </a:prstGeom>
          </p:spPr>
          <p:txBody>
            <a:bodyPr lIns="50800" tIns="50800" rIns="50800" bIns="50800" rtlCol="0" anchor="ctr"/>
            <a:lstStyle/>
            <a:p>
              <a:pPr marL="0" lvl="0" indent="0" algn="ctr">
                <a:lnSpc>
                  <a:spcPts val="2519"/>
                </a:lnSpc>
              </a:pPr>
              <a:endParaRPr/>
            </a:p>
          </p:txBody>
        </p:sp>
      </p:grpSp>
      <p:sp>
        <p:nvSpPr>
          <p:cNvPr id="18" name="TextBox 18"/>
          <p:cNvSpPr txBox="1"/>
          <p:nvPr/>
        </p:nvSpPr>
        <p:spPr>
          <a:xfrm>
            <a:off x="8583350" y="556242"/>
            <a:ext cx="1306476" cy="316262"/>
          </a:xfrm>
          <a:prstGeom prst="rect">
            <a:avLst/>
          </a:prstGeom>
        </p:spPr>
        <p:txBody>
          <a:bodyPr lIns="0" tIns="0" rIns="0" bIns="0" rtlCol="0" anchor="t">
            <a:spAutoFit/>
          </a:bodyPr>
          <a:lstStyle/>
          <a:p>
            <a:pPr marL="0" lvl="0" indent="0" algn="ctr">
              <a:lnSpc>
                <a:spcPts val="2518"/>
              </a:lnSpc>
              <a:spcBef>
                <a:spcPct val="0"/>
              </a:spcBef>
            </a:pPr>
            <a:r>
              <a:rPr lang="en-US" sz="1798">
                <a:solidFill>
                  <a:srgbClr val="000000"/>
                </a:solidFill>
                <a:latin typeface="Work Sans"/>
                <a:ea typeface="Work Sans"/>
                <a:cs typeface="Work Sans"/>
                <a:sym typeface="Work Sans"/>
              </a:rPr>
              <a:t>Contact</a:t>
            </a:r>
          </a:p>
        </p:txBody>
      </p:sp>
      <p:sp>
        <p:nvSpPr>
          <p:cNvPr id="19" name="TextBox 19"/>
          <p:cNvSpPr txBox="1"/>
          <p:nvPr/>
        </p:nvSpPr>
        <p:spPr>
          <a:xfrm>
            <a:off x="13596775" y="556242"/>
            <a:ext cx="1842261" cy="316262"/>
          </a:xfrm>
          <a:prstGeom prst="rect">
            <a:avLst/>
          </a:prstGeom>
        </p:spPr>
        <p:txBody>
          <a:bodyPr lIns="0" tIns="0" rIns="0" bIns="0" rtlCol="0" anchor="t">
            <a:spAutoFit/>
          </a:bodyPr>
          <a:lstStyle/>
          <a:p>
            <a:pPr marL="0" lvl="0" indent="0" algn="l">
              <a:lnSpc>
                <a:spcPts val="2518"/>
              </a:lnSpc>
              <a:spcBef>
                <a:spcPct val="0"/>
              </a:spcBef>
            </a:pPr>
            <a:r>
              <a:rPr lang="en-US" sz="1798">
                <a:solidFill>
                  <a:srgbClr val="FFFFFF"/>
                </a:solidFill>
                <a:latin typeface="Work Sans"/>
                <a:ea typeface="Work Sans"/>
                <a:cs typeface="Work Sans"/>
                <a:sym typeface="Work Sans"/>
              </a:rPr>
              <a:t>Search Now...</a:t>
            </a:r>
          </a:p>
        </p:txBody>
      </p:sp>
      <p:sp>
        <p:nvSpPr>
          <p:cNvPr id="20" name="TextBox 20"/>
          <p:cNvSpPr txBox="1"/>
          <p:nvPr/>
        </p:nvSpPr>
        <p:spPr>
          <a:xfrm>
            <a:off x="6281838" y="556242"/>
            <a:ext cx="1482194" cy="316262"/>
          </a:xfrm>
          <a:prstGeom prst="rect">
            <a:avLst/>
          </a:prstGeom>
        </p:spPr>
        <p:txBody>
          <a:bodyPr lIns="0" tIns="0" rIns="0" bIns="0" rtlCol="0" anchor="t">
            <a:spAutoFit/>
          </a:bodyPr>
          <a:lstStyle/>
          <a:p>
            <a:pPr marL="0" lvl="0" indent="0" algn="ctr">
              <a:lnSpc>
                <a:spcPts val="2518"/>
              </a:lnSpc>
              <a:spcBef>
                <a:spcPct val="0"/>
              </a:spcBef>
            </a:pPr>
            <a:r>
              <a:rPr lang="en-US" sz="1798">
                <a:solidFill>
                  <a:srgbClr val="000000"/>
                </a:solidFill>
                <a:latin typeface="Work Sans"/>
                <a:ea typeface="Work Sans"/>
                <a:cs typeface="Work Sans"/>
                <a:sym typeface="Work Sans"/>
              </a:rPr>
              <a:t>About Us</a:t>
            </a:r>
          </a:p>
        </p:txBody>
      </p:sp>
      <p:sp>
        <p:nvSpPr>
          <p:cNvPr id="21" name="TextBox 21"/>
          <p:cNvSpPr txBox="1"/>
          <p:nvPr/>
        </p:nvSpPr>
        <p:spPr>
          <a:xfrm>
            <a:off x="4194642" y="556242"/>
            <a:ext cx="1267879" cy="316262"/>
          </a:xfrm>
          <a:prstGeom prst="rect">
            <a:avLst/>
          </a:prstGeom>
        </p:spPr>
        <p:txBody>
          <a:bodyPr lIns="0" tIns="0" rIns="0" bIns="0" rtlCol="0" anchor="t">
            <a:spAutoFit/>
          </a:bodyPr>
          <a:lstStyle/>
          <a:p>
            <a:pPr marL="0" lvl="0" indent="0" algn="ctr">
              <a:lnSpc>
                <a:spcPts val="2518"/>
              </a:lnSpc>
              <a:spcBef>
                <a:spcPct val="0"/>
              </a:spcBef>
            </a:pPr>
            <a:r>
              <a:rPr lang="en-US" sz="1798">
                <a:solidFill>
                  <a:srgbClr val="000000"/>
                </a:solidFill>
                <a:latin typeface="Work Sans"/>
                <a:ea typeface="Work Sans"/>
                <a:cs typeface="Work Sans"/>
                <a:sym typeface="Work Sans"/>
              </a:rPr>
              <a:t>Home</a:t>
            </a:r>
          </a:p>
        </p:txBody>
      </p:sp>
      <p:sp>
        <p:nvSpPr>
          <p:cNvPr id="22" name="TextBox 22"/>
          <p:cNvSpPr txBox="1"/>
          <p:nvPr/>
        </p:nvSpPr>
        <p:spPr>
          <a:xfrm>
            <a:off x="1028700" y="519729"/>
            <a:ext cx="2725071" cy="389297"/>
          </a:xfrm>
          <a:prstGeom prst="rect">
            <a:avLst/>
          </a:prstGeom>
        </p:spPr>
        <p:txBody>
          <a:bodyPr lIns="0" tIns="0" rIns="0" bIns="0" rtlCol="0" anchor="t">
            <a:spAutoFit/>
          </a:bodyPr>
          <a:lstStyle/>
          <a:p>
            <a:pPr marL="0" lvl="0" indent="0" algn="l">
              <a:lnSpc>
                <a:spcPts val="3217"/>
              </a:lnSpc>
              <a:spcBef>
                <a:spcPct val="0"/>
              </a:spcBef>
            </a:pPr>
            <a:r>
              <a:rPr lang="en-US" sz="2298">
                <a:solidFill>
                  <a:srgbClr val="FF2A27"/>
                </a:solidFill>
                <a:latin typeface="DM Sans"/>
                <a:ea typeface="DM Sans"/>
                <a:cs typeface="DM Sans"/>
                <a:sym typeface="DM Sans"/>
              </a:rPr>
              <a:t>NETFLIX</a:t>
            </a:r>
          </a:p>
        </p:txBody>
      </p:sp>
      <p:sp>
        <p:nvSpPr>
          <p:cNvPr id="23" name="TextBox 23"/>
          <p:cNvSpPr txBox="1"/>
          <p:nvPr/>
        </p:nvSpPr>
        <p:spPr>
          <a:xfrm>
            <a:off x="1827123" y="981075"/>
            <a:ext cx="11769652" cy="1929765"/>
          </a:xfrm>
          <a:prstGeom prst="rect">
            <a:avLst/>
          </a:prstGeom>
        </p:spPr>
        <p:txBody>
          <a:bodyPr lIns="0" tIns="0" rIns="0" bIns="0" rtlCol="0" anchor="t">
            <a:spAutoFit/>
          </a:bodyPr>
          <a:lstStyle/>
          <a:p>
            <a:pPr marL="0" lvl="0" indent="0" algn="ctr">
              <a:lnSpc>
                <a:spcPts val="7680"/>
              </a:lnSpc>
            </a:pPr>
            <a:r>
              <a:rPr lang="en-US" sz="6000" b="1">
                <a:solidFill>
                  <a:srgbClr val="000000"/>
                </a:solidFill>
                <a:latin typeface="DM Sans Bold"/>
                <a:ea typeface="DM Sans Bold"/>
                <a:cs typeface="DM Sans Bold"/>
                <a:sym typeface="DM Sans Bold"/>
              </a:rPr>
              <a:t>COUNTRY-WISE CONTENT DISTRIBUTION</a:t>
            </a:r>
          </a:p>
        </p:txBody>
      </p:sp>
      <p:sp>
        <p:nvSpPr>
          <p:cNvPr id="24" name="TextBox 24"/>
          <p:cNvSpPr txBox="1"/>
          <p:nvPr/>
        </p:nvSpPr>
        <p:spPr>
          <a:xfrm>
            <a:off x="1330593" y="9029287"/>
            <a:ext cx="1737077"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Subscribe Now</a:t>
            </a:r>
          </a:p>
        </p:txBody>
      </p:sp>
      <p:sp>
        <p:nvSpPr>
          <p:cNvPr id="25" name="TextBox 25"/>
          <p:cNvSpPr txBox="1"/>
          <p:nvPr/>
        </p:nvSpPr>
        <p:spPr>
          <a:xfrm>
            <a:off x="707350" y="3605100"/>
            <a:ext cx="8242463" cy="45631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000000"/>
                </a:solidFill>
                <a:latin typeface="Work Sans"/>
                <a:ea typeface="Work Sans"/>
                <a:cs typeface="Work Sans"/>
                <a:sym typeface="Work Sans"/>
              </a:rPr>
              <a:t>Netflix content is distributed across multiple countries worldwide.</a:t>
            </a:r>
          </a:p>
          <a:p>
            <a:pPr marL="561341" lvl="1" indent="-280670" algn="l">
              <a:lnSpc>
                <a:spcPts val="3640"/>
              </a:lnSpc>
              <a:buFont typeface="Arial"/>
              <a:buChar char="•"/>
            </a:pPr>
            <a:r>
              <a:rPr lang="en-US" sz="2600">
                <a:solidFill>
                  <a:srgbClr val="000000"/>
                </a:solidFill>
                <a:latin typeface="Work Sans"/>
                <a:ea typeface="Work Sans"/>
                <a:cs typeface="Work Sans"/>
                <a:sym typeface="Work Sans"/>
              </a:rPr>
              <a:t>The United States has the highest number of titles on the platform.</a:t>
            </a:r>
          </a:p>
          <a:p>
            <a:pPr marL="561341" lvl="1" indent="-280670" algn="l">
              <a:lnSpc>
                <a:spcPts val="3640"/>
              </a:lnSpc>
              <a:buFont typeface="Arial"/>
              <a:buChar char="•"/>
            </a:pPr>
            <a:r>
              <a:rPr lang="en-US" sz="2600">
                <a:solidFill>
                  <a:srgbClr val="000000"/>
                </a:solidFill>
                <a:latin typeface="Work Sans"/>
                <a:ea typeface="Work Sans"/>
                <a:cs typeface="Work Sans"/>
                <a:sym typeface="Work Sans"/>
              </a:rPr>
              <a:t>India is one of the major contributors to Netflix content growth.</a:t>
            </a:r>
          </a:p>
          <a:p>
            <a:pPr marL="561341" lvl="1" indent="-280670" algn="l">
              <a:lnSpc>
                <a:spcPts val="3640"/>
              </a:lnSpc>
              <a:buFont typeface="Arial"/>
              <a:buChar char="•"/>
            </a:pPr>
            <a:r>
              <a:rPr lang="en-US" sz="2600">
                <a:solidFill>
                  <a:srgbClr val="000000"/>
                </a:solidFill>
                <a:latin typeface="Work Sans"/>
                <a:ea typeface="Work Sans"/>
                <a:cs typeface="Work Sans"/>
                <a:sym typeface="Work Sans"/>
              </a:rPr>
              <a:t>Content diversity shows Netflix’s strong global expansion strategy.</a:t>
            </a:r>
          </a:p>
          <a:p>
            <a:pPr marL="561341" lvl="1" indent="-280670" algn="l">
              <a:lnSpc>
                <a:spcPts val="3640"/>
              </a:lnSpc>
              <a:buFont typeface="Arial"/>
              <a:buChar char="•"/>
            </a:pPr>
            <a:r>
              <a:rPr lang="en-US" sz="2600">
                <a:solidFill>
                  <a:srgbClr val="000000"/>
                </a:solidFill>
                <a:latin typeface="Work Sans"/>
                <a:ea typeface="Work Sans"/>
                <a:cs typeface="Work Sans"/>
                <a:sym typeface="Work Sans"/>
              </a:rPr>
              <a:t>International content availability helps attract a wider audience base.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73724" y="0"/>
            <a:ext cx="6714276" cy="10287000"/>
            <a:chOff x="0" y="0"/>
            <a:chExt cx="1768369" cy="2709333"/>
          </a:xfrm>
        </p:grpSpPr>
        <p:sp>
          <p:nvSpPr>
            <p:cNvPr id="3" name="Freeform 3"/>
            <p:cNvSpPr/>
            <p:nvPr/>
          </p:nvSpPr>
          <p:spPr>
            <a:xfrm>
              <a:off x="0" y="0"/>
              <a:ext cx="1768369" cy="2709333"/>
            </a:xfrm>
            <a:custGeom>
              <a:avLst/>
              <a:gdLst/>
              <a:ahLst/>
              <a:cxnLst/>
              <a:rect l="l" t="t" r="r" b="b"/>
              <a:pathLst>
                <a:path w="1768369" h="2709333">
                  <a:moveTo>
                    <a:pt x="0" y="0"/>
                  </a:moveTo>
                  <a:lnTo>
                    <a:pt x="1768369" y="0"/>
                  </a:lnTo>
                  <a:lnTo>
                    <a:pt x="1768369" y="2709333"/>
                  </a:lnTo>
                  <a:lnTo>
                    <a:pt x="0" y="2709333"/>
                  </a:lnTo>
                  <a:close/>
                </a:path>
              </a:pathLst>
            </a:custGeom>
            <a:solidFill>
              <a:srgbClr val="FF2A27"/>
            </a:solidFill>
          </p:spPr>
        </p:sp>
        <p:sp>
          <p:nvSpPr>
            <p:cNvPr id="4" name="TextBox 4"/>
            <p:cNvSpPr txBox="1"/>
            <p:nvPr/>
          </p:nvSpPr>
          <p:spPr>
            <a:xfrm>
              <a:off x="0" y="-47625"/>
              <a:ext cx="1768369" cy="2756958"/>
            </a:xfrm>
            <a:prstGeom prst="rect">
              <a:avLst/>
            </a:prstGeom>
          </p:spPr>
          <p:txBody>
            <a:bodyPr lIns="50800" tIns="50800" rIns="50800" bIns="50800" rtlCol="0" anchor="ctr"/>
            <a:lstStyle/>
            <a:p>
              <a:pPr marL="0" lvl="0" indent="0" algn="ctr">
                <a:lnSpc>
                  <a:spcPts val="2519"/>
                </a:lnSpc>
              </a:pPr>
              <a:endParaRPr/>
            </a:p>
          </p:txBody>
        </p:sp>
      </p:grpSp>
      <p:grpSp>
        <p:nvGrpSpPr>
          <p:cNvPr id="5" name="Group 5"/>
          <p:cNvGrpSpPr/>
          <p:nvPr/>
        </p:nvGrpSpPr>
        <p:grpSpPr>
          <a:xfrm>
            <a:off x="16678239" y="447639"/>
            <a:ext cx="581061" cy="581061"/>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00000"/>
            </a:solidFill>
          </p:spPr>
        </p:sp>
        <p:sp>
          <p:nvSpPr>
            <p:cNvPr id="7" name="TextBox 7"/>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8" name="Freeform 8"/>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12882268" y="447639"/>
            <a:ext cx="3606578" cy="581061"/>
            <a:chOff x="0" y="0"/>
            <a:chExt cx="949881" cy="153037"/>
          </a:xfrm>
        </p:grpSpPr>
        <p:sp>
          <p:nvSpPr>
            <p:cNvPr id="10" name="Freeform 10"/>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000000">
                <a:alpha val="19608"/>
              </a:srgbClr>
            </a:solidFill>
          </p:spPr>
        </p:sp>
        <p:sp>
          <p:nvSpPr>
            <p:cNvPr id="11" name="TextBox 11"/>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sp>
        <p:nvSpPr>
          <p:cNvPr id="12" name="Freeform 12"/>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12602424" y="1806364"/>
            <a:ext cx="4656876" cy="6674272"/>
            <a:chOff x="0" y="0"/>
            <a:chExt cx="721472" cy="1034019"/>
          </a:xfrm>
        </p:grpSpPr>
        <p:sp>
          <p:nvSpPr>
            <p:cNvPr id="14" name="Freeform 14"/>
            <p:cNvSpPr/>
            <p:nvPr/>
          </p:nvSpPr>
          <p:spPr>
            <a:xfrm>
              <a:off x="0" y="0"/>
              <a:ext cx="721472" cy="1034019"/>
            </a:xfrm>
            <a:custGeom>
              <a:avLst/>
              <a:gdLst/>
              <a:ahLst/>
              <a:cxnLst/>
              <a:rect l="l" t="t" r="r" b="b"/>
              <a:pathLst>
                <a:path w="721472" h="1034019">
                  <a:moveTo>
                    <a:pt x="0" y="0"/>
                  </a:moveTo>
                  <a:lnTo>
                    <a:pt x="721472" y="0"/>
                  </a:lnTo>
                  <a:lnTo>
                    <a:pt x="721472" y="1034019"/>
                  </a:lnTo>
                  <a:lnTo>
                    <a:pt x="0" y="1034019"/>
                  </a:lnTo>
                  <a:close/>
                </a:path>
              </a:pathLst>
            </a:custGeom>
            <a:blipFill>
              <a:blip r:embed="rId4"/>
              <a:stretch>
                <a:fillRect t="-1779" b="-1779"/>
              </a:stretch>
            </a:blipFill>
          </p:spPr>
        </p:sp>
      </p:grpSp>
      <p:sp>
        <p:nvSpPr>
          <p:cNvPr id="15" name="TextBox 15"/>
          <p:cNvSpPr txBox="1"/>
          <p:nvPr/>
        </p:nvSpPr>
        <p:spPr>
          <a:xfrm>
            <a:off x="8583350" y="556242"/>
            <a:ext cx="1306476"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Movies</a:t>
            </a:r>
          </a:p>
        </p:txBody>
      </p:sp>
      <p:sp>
        <p:nvSpPr>
          <p:cNvPr id="16" name="TextBox 16"/>
          <p:cNvSpPr txBox="1"/>
          <p:nvPr/>
        </p:nvSpPr>
        <p:spPr>
          <a:xfrm>
            <a:off x="13596775" y="556242"/>
            <a:ext cx="1842261" cy="316230"/>
          </a:xfrm>
          <a:prstGeom prst="rect">
            <a:avLst/>
          </a:prstGeom>
        </p:spPr>
        <p:txBody>
          <a:bodyPr lIns="0" tIns="0" rIns="0" bIns="0" rtlCol="0" anchor="t">
            <a:spAutoFit/>
          </a:bodyPr>
          <a:lstStyle/>
          <a:p>
            <a:pPr marL="0" lvl="0" indent="0" algn="l">
              <a:lnSpc>
                <a:spcPts val="2519"/>
              </a:lnSpc>
              <a:spcBef>
                <a:spcPct val="0"/>
              </a:spcBef>
            </a:pPr>
            <a:r>
              <a:rPr lang="en-US" sz="1799">
                <a:solidFill>
                  <a:srgbClr val="FFFFFF"/>
                </a:solidFill>
                <a:latin typeface="Work Sans"/>
                <a:ea typeface="Work Sans"/>
                <a:cs typeface="Work Sans"/>
                <a:sym typeface="Work Sans"/>
              </a:rPr>
              <a:t>Search...</a:t>
            </a:r>
          </a:p>
        </p:txBody>
      </p:sp>
      <p:sp>
        <p:nvSpPr>
          <p:cNvPr id="17" name="TextBox 17"/>
          <p:cNvSpPr txBox="1"/>
          <p:nvPr/>
        </p:nvSpPr>
        <p:spPr>
          <a:xfrm>
            <a:off x="6281838" y="556242"/>
            <a:ext cx="1482194"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Shows</a:t>
            </a:r>
          </a:p>
        </p:txBody>
      </p:sp>
      <p:sp>
        <p:nvSpPr>
          <p:cNvPr id="18" name="TextBox 18"/>
          <p:cNvSpPr txBox="1"/>
          <p:nvPr/>
        </p:nvSpPr>
        <p:spPr>
          <a:xfrm>
            <a:off x="4194642" y="556242"/>
            <a:ext cx="1267879"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Home</a:t>
            </a:r>
          </a:p>
        </p:txBody>
      </p:sp>
      <p:sp>
        <p:nvSpPr>
          <p:cNvPr id="19" name="TextBox 19"/>
          <p:cNvSpPr txBox="1"/>
          <p:nvPr/>
        </p:nvSpPr>
        <p:spPr>
          <a:xfrm>
            <a:off x="1028700" y="519729"/>
            <a:ext cx="2725071" cy="389297"/>
          </a:xfrm>
          <a:prstGeom prst="rect">
            <a:avLst/>
          </a:prstGeom>
        </p:spPr>
        <p:txBody>
          <a:bodyPr lIns="0" tIns="0" rIns="0" bIns="0" rtlCol="0" anchor="t">
            <a:spAutoFit/>
          </a:bodyPr>
          <a:lstStyle/>
          <a:p>
            <a:pPr marL="0" lvl="0" indent="0" algn="l">
              <a:lnSpc>
                <a:spcPts val="3217"/>
              </a:lnSpc>
              <a:spcBef>
                <a:spcPct val="0"/>
              </a:spcBef>
            </a:pPr>
            <a:r>
              <a:rPr lang="en-US" sz="2298">
                <a:solidFill>
                  <a:srgbClr val="FF2A27"/>
                </a:solidFill>
                <a:latin typeface="DM Sans"/>
                <a:ea typeface="DM Sans"/>
                <a:cs typeface="DM Sans"/>
                <a:sym typeface="DM Sans"/>
              </a:rPr>
              <a:t>NETFLIX</a:t>
            </a:r>
          </a:p>
        </p:txBody>
      </p:sp>
      <p:sp>
        <p:nvSpPr>
          <p:cNvPr id="20" name="TextBox 20"/>
          <p:cNvSpPr txBox="1"/>
          <p:nvPr/>
        </p:nvSpPr>
        <p:spPr>
          <a:xfrm>
            <a:off x="695205" y="1035541"/>
            <a:ext cx="10358511" cy="1038225"/>
          </a:xfrm>
          <a:prstGeom prst="rect">
            <a:avLst/>
          </a:prstGeom>
        </p:spPr>
        <p:txBody>
          <a:bodyPr lIns="0" tIns="0" rIns="0" bIns="0" rtlCol="0" anchor="t">
            <a:spAutoFit/>
          </a:bodyPr>
          <a:lstStyle/>
          <a:p>
            <a:pPr marL="0" lvl="0" indent="0" algn="ctr">
              <a:lnSpc>
                <a:spcPts val="8400"/>
              </a:lnSpc>
            </a:pPr>
            <a:r>
              <a:rPr lang="en-US" sz="6000" b="1">
                <a:solidFill>
                  <a:srgbClr val="000000"/>
                </a:solidFill>
                <a:latin typeface="DM Sans Bold"/>
                <a:ea typeface="DM Sans Bold"/>
                <a:cs typeface="DM Sans Bold"/>
                <a:sym typeface="DM Sans Bold"/>
              </a:rPr>
              <a:t>STATISTICAL VALIDATION</a:t>
            </a:r>
          </a:p>
        </p:txBody>
      </p:sp>
      <p:sp>
        <p:nvSpPr>
          <p:cNvPr id="21" name="TextBox 21"/>
          <p:cNvSpPr txBox="1"/>
          <p:nvPr/>
        </p:nvSpPr>
        <p:spPr>
          <a:xfrm>
            <a:off x="491032" y="2016616"/>
            <a:ext cx="10766857" cy="7879973"/>
          </a:xfrm>
          <a:prstGeom prst="rect">
            <a:avLst/>
          </a:prstGeom>
        </p:spPr>
        <p:txBody>
          <a:bodyPr lIns="0" tIns="0" rIns="0" bIns="0" rtlCol="0" anchor="t">
            <a:spAutoFit/>
          </a:bodyPr>
          <a:lstStyle/>
          <a:p>
            <a:pPr algn="ctr">
              <a:lnSpc>
                <a:spcPts val="3520"/>
              </a:lnSpc>
              <a:spcBef>
                <a:spcPct val="0"/>
              </a:spcBef>
            </a:pPr>
            <a:r>
              <a:rPr lang="en-US" sz="2514" b="1">
                <a:solidFill>
                  <a:srgbClr val="000000"/>
                </a:solidFill>
                <a:latin typeface="Work Sans Bold"/>
                <a:ea typeface="Work Sans Bold"/>
                <a:cs typeface="Work Sans Bold"/>
                <a:sym typeface="Work Sans Bold"/>
              </a:rPr>
              <a:t>Do Movies and TV Shows on Netflix have significantly different durations?</a:t>
            </a:r>
          </a:p>
          <a:p>
            <a:pPr algn="l">
              <a:lnSpc>
                <a:spcPts val="3520"/>
              </a:lnSpc>
              <a:spcBef>
                <a:spcPct val="0"/>
              </a:spcBef>
            </a:pPr>
            <a:r>
              <a:rPr lang="en-US" sz="2514" b="1">
                <a:solidFill>
                  <a:srgbClr val="000000"/>
                </a:solidFill>
                <a:latin typeface="Work Sans Bold"/>
                <a:ea typeface="Work Sans Bold"/>
                <a:cs typeface="Work Sans Bold"/>
                <a:sym typeface="Work Sans Bold"/>
              </a:rPr>
              <a:t>Null Hypothesis (H₀):</a:t>
            </a:r>
            <a:r>
              <a:rPr lang="en-US" sz="2514">
                <a:solidFill>
                  <a:srgbClr val="000000"/>
                </a:solidFill>
                <a:latin typeface="Work Sans"/>
                <a:ea typeface="Work Sans"/>
                <a:cs typeface="Work Sans"/>
                <a:sym typeface="Work Sans"/>
              </a:rPr>
              <a:t> There is no significant difference between Movie and TV Show durations.</a:t>
            </a:r>
          </a:p>
          <a:p>
            <a:pPr algn="l">
              <a:lnSpc>
                <a:spcPts val="3520"/>
              </a:lnSpc>
              <a:spcBef>
                <a:spcPct val="0"/>
              </a:spcBef>
            </a:pPr>
            <a:r>
              <a:rPr lang="en-US" sz="2514" b="1">
                <a:solidFill>
                  <a:srgbClr val="000000"/>
                </a:solidFill>
                <a:latin typeface="Work Sans Bold"/>
                <a:ea typeface="Work Sans Bold"/>
                <a:cs typeface="Work Sans Bold"/>
                <a:sym typeface="Work Sans Bold"/>
              </a:rPr>
              <a:t>Alternative Hypothesis (H₁): </a:t>
            </a:r>
            <a:r>
              <a:rPr lang="en-US" sz="2514">
                <a:solidFill>
                  <a:srgbClr val="000000"/>
                </a:solidFill>
                <a:latin typeface="Work Sans"/>
                <a:ea typeface="Work Sans"/>
                <a:cs typeface="Work Sans"/>
                <a:sym typeface="Work Sans"/>
              </a:rPr>
              <a:t>There is a significant difference between Movie and TV Show durations.</a:t>
            </a:r>
          </a:p>
          <a:p>
            <a:pPr algn="l">
              <a:lnSpc>
                <a:spcPts val="3520"/>
              </a:lnSpc>
              <a:spcBef>
                <a:spcPct val="0"/>
              </a:spcBef>
            </a:pPr>
            <a:r>
              <a:rPr lang="en-US" sz="2514" b="1">
                <a:solidFill>
                  <a:srgbClr val="000000"/>
                </a:solidFill>
                <a:latin typeface="Work Sans Bold"/>
                <a:ea typeface="Work Sans Bold"/>
                <a:cs typeface="Work Sans Bold"/>
                <a:sym typeface="Work Sans Bold"/>
              </a:rPr>
              <a:t>Statistical Test Used: </a:t>
            </a:r>
            <a:r>
              <a:rPr lang="en-US" sz="2514">
                <a:solidFill>
                  <a:srgbClr val="000000"/>
                </a:solidFill>
                <a:latin typeface="Work Sans"/>
                <a:ea typeface="Work Sans"/>
                <a:cs typeface="Work Sans"/>
                <a:sym typeface="Work Sans"/>
              </a:rPr>
              <a:t>Independent T-Test</a:t>
            </a:r>
          </a:p>
          <a:p>
            <a:pPr algn="l">
              <a:lnSpc>
                <a:spcPts val="3520"/>
              </a:lnSpc>
              <a:spcBef>
                <a:spcPct val="0"/>
              </a:spcBef>
            </a:pPr>
            <a:r>
              <a:rPr lang="en-US" sz="2514" b="1">
                <a:solidFill>
                  <a:srgbClr val="000000"/>
                </a:solidFill>
                <a:latin typeface="Work Sans Bold"/>
                <a:ea typeface="Work Sans Bold"/>
                <a:cs typeface="Work Sans Bold"/>
                <a:sym typeface="Work Sans Bold"/>
              </a:rPr>
              <a:t>Methodology: </a:t>
            </a:r>
          </a:p>
          <a:p>
            <a:pPr algn="l">
              <a:lnSpc>
                <a:spcPts val="3520"/>
              </a:lnSpc>
              <a:spcBef>
                <a:spcPct val="0"/>
              </a:spcBef>
            </a:pPr>
            <a:r>
              <a:rPr lang="en-US" sz="2514">
                <a:solidFill>
                  <a:srgbClr val="000000"/>
                </a:solidFill>
                <a:latin typeface="Work Sans"/>
                <a:ea typeface="Work Sans"/>
                <a:cs typeface="Work Sans"/>
                <a:sym typeface="Work Sans"/>
              </a:rPr>
              <a:t>• Extracted duration values from the Netflix dataset</a:t>
            </a:r>
          </a:p>
          <a:p>
            <a:pPr algn="l">
              <a:lnSpc>
                <a:spcPts val="3520"/>
              </a:lnSpc>
              <a:spcBef>
                <a:spcPct val="0"/>
              </a:spcBef>
            </a:pPr>
            <a:r>
              <a:rPr lang="en-US" sz="2514">
                <a:solidFill>
                  <a:srgbClr val="000000"/>
                </a:solidFill>
                <a:latin typeface="Work Sans"/>
                <a:ea typeface="Work Sans"/>
                <a:cs typeface="Work Sans"/>
                <a:sym typeface="Work Sans"/>
              </a:rPr>
              <a:t>• Separated Movies and TV Shows into different groups</a:t>
            </a:r>
          </a:p>
          <a:p>
            <a:pPr algn="l">
              <a:lnSpc>
                <a:spcPts val="3520"/>
              </a:lnSpc>
              <a:spcBef>
                <a:spcPct val="0"/>
              </a:spcBef>
            </a:pPr>
            <a:r>
              <a:rPr lang="en-US" sz="2514">
                <a:solidFill>
                  <a:srgbClr val="000000"/>
                </a:solidFill>
                <a:latin typeface="Work Sans"/>
                <a:ea typeface="Work Sans"/>
                <a:cs typeface="Work Sans"/>
                <a:sym typeface="Work Sans"/>
              </a:rPr>
              <a:t>• Applied Independent T-Test using Python and SciPy</a:t>
            </a:r>
          </a:p>
          <a:p>
            <a:pPr algn="l">
              <a:lnSpc>
                <a:spcPts val="3520"/>
              </a:lnSpc>
              <a:spcBef>
                <a:spcPct val="0"/>
              </a:spcBef>
            </a:pPr>
            <a:r>
              <a:rPr lang="en-US" sz="2514">
                <a:solidFill>
                  <a:srgbClr val="000000"/>
                </a:solidFill>
                <a:latin typeface="Work Sans"/>
                <a:ea typeface="Work Sans"/>
                <a:cs typeface="Work Sans"/>
                <a:sym typeface="Work Sans"/>
              </a:rPr>
              <a:t>• Compared duration distributions statistically</a:t>
            </a:r>
          </a:p>
          <a:p>
            <a:pPr algn="l">
              <a:lnSpc>
                <a:spcPts val="3520"/>
              </a:lnSpc>
              <a:spcBef>
                <a:spcPct val="0"/>
              </a:spcBef>
            </a:pPr>
            <a:r>
              <a:rPr lang="en-US" sz="2514" b="1">
                <a:solidFill>
                  <a:srgbClr val="000000"/>
                </a:solidFill>
                <a:latin typeface="Work Sans Bold"/>
                <a:ea typeface="Work Sans Bold"/>
                <a:cs typeface="Work Sans Bold"/>
                <a:sym typeface="Work Sans Bold"/>
              </a:rPr>
              <a:t>Output:</a:t>
            </a:r>
          </a:p>
          <a:p>
            <a:pPr algn="l">
              <a:lnSpc>
                <a:spcPts val="3520"/>
              </a:lnSpc>
              <a:spcBef>
                <a:spcPct val="0"/>
              </a:spcBef>
            </a:pPr>
            <a:r>
              <a:rPr lang="en-US" sz="2514">
                <a:solidFill>
                  <a:srgbClr val="000000"/>
                </a:solidFill>
                <a:latin typeface="Work Sans"/>
                <a:ea typeface="Work Sans"/>
                <a:cs typeface="Work Sans"/>
                <a:sym typeface="Work Sans"/>
              </a:rPr>
              <a:t>T-Statistic = 45.21</a:t>
            </a:r>
          </a:p>
          <a:p>
            <a:pPr algn="l">
              <a:lnSpc>
                <a:spcPts val="3520"/>
              </a:lnSpc>
              <a:spcBef>
                <a:spcPct val="0"/>
              </a:spcBef>
            </a:pPr>
            <a:r>
              <a:rPr lang="en-US" sz="2514">
                <a:solidFill>
                  <a:srgbClr val="000000"/>
                </a:solidFill>
                <a:latin typeface="Work Sans"/>
                <a:ea typeface="Work Sans"/>
                <a:cs typeface="Work Sans"/>
                <a:sym typeface="Work Sans"/>
              </a:rPr>
              <a:t>P-Value = 0.00001</a:t>
            </a:r>
          </a:p>
          <a:p>
            <a:pPr algn="l">
              <a:lnSpc>
                <a:spcPts val="3520"/>
              </a:lnSpc>
              <a:spcBef>
                <a:spcPct val="0"/>
              </a:spcBef>
            </a:pPr>
            <a:r>
              <a:rPr lang="en-US" sz="2514">
                <a:solidFill>
                  <a:srgbClr val="000000"/>
                </a:solidFill>
                <a:latin typeface="Work Sans"/>
                <a:ea typeface="Work Sans"/>
                <a:cs typeface="Work Sans"/>
                <a:sym typeface="Work Sans"/>
              </a:rPr>
              <a:t>Since the p-value is less than 0.05, the null hypothesis is rejected. This indicates a statistically significant difference between Movie and TV Show durations on Netflix.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6678239" y="447639"/>
            <a:ext cx="581061" cy="581061"/>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2A27"/>
            </a:solidFill>
          </p:spPr>
        </p:sp>
        <p:sp>
          <p:nvSpPr>
            <p:cNvPr id="5" name="TextBox 5"/>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grpSp>
        <p:nvGrpSpPr>
          <p:cNvPr id="6" name="Group 6"/>
          <p:cNvGrpSpPr/>
          <p:nvPr/>
        </p:nvGrpSpPr>
        <p:grpSpPr>
          <a:xfrm>
            <a:off x="16861594" y="9204920"/>
            <a:ext cx="581061" cy="581061"/>
            <a:chOff x="0" y="0"/>
            <a:chExt cx="812800" cy="812800"/>
          </a:xfrm>
        </p:grpSpPr>
        <p:sp>
          <p:nvSpPr>
            <p:cNvPr id="7" name="Freeform 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FFFF">
                <a:alpha val="19608"/>
              </a:srgbClr>
            </a:solidFill>
          </p:spPr>
        </p:sp>
        <p:sp>
          <p:nvSpPr>
            <p:cNvPr id="8" name="TextBox 8"/>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9" name="Freeform 9"/>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12882268" y="447639"/>
            <a:ext cx="3606578" cy="581061"/>
            <a:chOff x="0" y="0"/>
            <a:chExt cx="949881" cy="153037"/>
          </a:xfrm>
        </p:grpSpPr>
        <p:sp>
          <p:nvSpPr>
            <p:cNvPr id="11" name="Freeform 11"/>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FFFFFF">
                <a:alpha val="19608"/>
              </a:srgbClr>
            </a:solidFill>
          </p:spPr>
        </p:sp>
        <p:sp>
          <p:nvSpPr>
            <p:cNvPr id="12" name="TextBox 12"/>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grpSp>
        <p:nvGrpSpPr>
          <p:cNvPr id="13" name="Group 13"/>
          <p:cNvGrpSpPr/>
          <p:nvPr/>
        </p:nvGrpSpPr>
        <p:grpSpPr>
          <a:xfrm>
            <a:off x="14685557" y="9204920"/>
            <a:ext cx="2012954" cy="581061"/>
            <a:chOff x="0" y="0"/>
            <a:chExt cx="530161" cy="153037"/>
          </a:xfrm>
        </p:grpSpPr>
        <p:sp>
          <p:nvSpPr>
            <p:cNvPr id="14" name="Freeform 14"/>
            <p:cNvSpPr/>
            <p:nvPr/>
          </p:nvSpPr>
          <p:spPr>
            <a:xfrm>
              <a:off x="0" y="0"/>
              <a:ext cx="530161" cy="153037"/>
            </a:xfrm>
            <a:custGeom>
              <a:avLst/>
              <a:gdLst/>
              <a:ahLst/>
              <a:cxnLst/>
              <a:rect l="l" t="t" r="r" b="b"/>
              <a:pathLst>
                <a:path w="530161" h="153037">
                  <a:moveTo>
                    <a:pt x="0" y="0"/>
                  </a:moveTo>
                  <a:lnTo>
                    <a:pt x="530161" y="0"/>
                  </a:lnTo>
                  <a:lnTo>
                    <a:pt x="530161" y="153037"/>
                  </a:lnTo>
                  <a:lnTo>
                    <a:pt x="0" y="153037"/>
                  </a:lnTo>
                  <a:close/>
                </a:path>
              </a:pathLst>
            </a:custGeom>
            <a:solidFill>
              <a:srgbClr val="FF2A27"/>
            </a:solidFill>
          </p:spPr>
        </p:sp>
        <p:sp>
          <p:nvSpPr>
            <p:cNvPr id="15" name="TextBox 15"/>
            <p:cNvSpPr txBox="1"/>
            <p:nvPr/>
          </p:nvSpPr>
          <p:spPr>
            <a:xfrm>
              <a:off x="0" y="-47625"/>
              <a:ext cx="530161" cy="200662"/>
            </a:xfrm>
            <a:prstGeom prst="rect">
              <a:avLst/>
            </a:prstGeom>
          </p:spPr>
          <p:txBody>
            <a:bodyPr lIns="50800" tIns="50800" rIns="50800" bIns="50800" rtlCol="0" anchor="ctr"/>
            <a:lstStyle/>
            <a:p>
              <a:pPr marL="0" lvl="0" indent="0" algn="ctr">
                <a:lnSpc>
                  <a:spcPts val="2519"/>
                </a:lnSpc>
              </a:pPr>
              <a:endParaRPr/>
            </a:p>
          </p:txBody>
        </p:sp>
      </p:grpSp>
      <p:sp>
        <p:nvSpPr>
          <p:cNvPr id="16" name="Freeform 16"/>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a:off x="17059113" y="9361148"/>
            <a:ext cx="210977" cy="268605"/>
          </a:xfrm>
          <a:custGeom>
            <a:avLst/>
            <a:gdLst/>
            <a:ahLst/>
            <a:cxnLst/>
            <a:rect l="l" t="t" r="r" b="b"/>
            <a:pathLst>
              <a:path w="210977" h="268605">
                <a:moveTo>
                  <a:pt x="0" y="0"/>
                </a:moveTo>
                <a:lnTo>
                  <a:pt x="210977" y="0"/>
                </a:lnTo>
                <a:lnTo>
                  <a:pt x="210977" y="268605"/>
                </a:lnTo>
                <a:lnTo>
                  <a:pt x="0" y="2686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8" name="TextBox 18"/>
          <p:cNvSpPr txBox="1"/>
          <p:nvPr/>
        </p:nvSpPr>
        <p:spPr>
          <a:xfrm>
            <a:off x="8583350" y="556242"/>
            <a:ext cx="1306476"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My List</a:t>
            </a:r>
          </a:p>
        </p:txBody>
      </p:sp>
      <p:sp>
        <p:nvSpPr>
          <p:cNvPr id="19" name="TextBox 19"/>
          <p:cNvSpPr txBox="1"/>
          <p:nvPr/>
        </p:nvSpPr>
        <p:spPr>
          <a:xfrm>
            <a:off x="13596775" y="556242"/>
            <a:ext cx="1842261" cy="316262"/>
          </a:xfrm>
          <a:prstGeom prst="rect">
            <a:avLst/>
          </a:prstGeom>
        </p:spPr>
        <p:txBody>
          <a:bodyPr lIns="0" tIns="0" rIns="0" bIns="0" rtlCol="0" anchor="t">
            <a:spAutoFit/>
          </a:bodyPr>
          <a:lstStyle/>
          <a:p>
            <a:pPr marL="0" lvl="0" indent="0" algn="l">
              <a:lnSpc>
                <a:spcPts val="2518"/>
              </a:lnSpc>
              <a:spcBef>
                <a:spcPct val="0"/>
              </a:spcBef>
            </a:pPr>
            <a:r>
              <a:rPr lang="en-US" sz="1798">
                <a:solidFill>
                  <a:srgbClr val="FFFFFF"/>
                </a:solidFill>
                <a:latin typeface="Work Sans"/>
                <a:ea typeface="Work Sans"/>
                <a:cs typeface="Work Sans"/>
                <a:sym typeface="Work Sans"/>
              </a:rPr>
              <a:t>Search Now...</a:t>
            </a:r>
          </a:p>
        </p:txBody>
      </p:sp>
      <p:sp>
        <p:nvSpPr>
          <p:cNvPr id="20" name="TextBox 20"/>
          <p:cNvSpPr txBox="1"/>
          <p:nvPr/>
        </p:nvSpPr>
        <p:spPr>
          <a:xfrm>
            <a:off x="14961270" y="9313523"/>
            <a:ext cx="1461530"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Watch Now</a:t>
            </a:r>
          </a:p>
        </p:txBody>
      </p:sp>
      <p:sp>
        <p:nvSpPr>
          <p:cNvPr id="21" name="TextBox 21"/>
          <p:cNvSpPr txBox="1"/>
          <p:nvPr/>
        </p:nvSpPr>
        <p:spPr>
          <a:xfrm>
            <a:off x="6281838" y="556242"/>
            <a:ext cx="1482194"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Browse</a:t>
            </a:r>
          </a:p>
        </p:txBody>
      </p:sp>
      <p:sp>
        <p:nvSpPr>
          <p:cNvPr id="22" name="TextBox 22"/>
          <p:cNvSpPr txBox="1"/>
          <p:nvPr/>
        </p:nvSpPr>
        <p:spPr>
          <a:xfrm>
            <a:off x="4194642" y="556242"/>
            <a:ext cx="1267879"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FFFFFF"/>
                </a:solidFill>
                <a:latin typeface="Work Sans"/>
                <a:ea typeface="Work Sans"/>
                <a:cs typeface="Work Sans"/>
                <a:sym typeface="Work Sans"/>
              </a:rPr>
              <a:t>Home</a:t>
            </a:r>
          </a:p>
        </p:txBody>
      </p:sp>
      <p:sp>
        <p:nvSpPr>
          <p:cNvPr id="23" name="TextBox 23"/>
          <p:cNvSpPr txBox="1"/>
          <p:nvPr/>
        </p:nvSpPr>
        <p:spPr>
          <a:xfrm>
            <a:off x="1028700" y="538779"/>
            <a:ext cx="2725071" cy="321964"/>
          </a:xfrm>
          <a:prstGeom prst="rect">
            <a:avLst/>
          </a:prstGeom>
        </p:spPr>
        <p:txBody>
          <a:bodyPr lIns="0" tIns="0" rIns="0" bIns="0" rtlCol="0" anchor="t">
            <a:spAutoFit/>
          </a:bodyPr>
          <a:lstStyle/>
          <a:p>
            <a:pPr marL="0" lvl="0" indent="0" algn="l">
              <a:lnSpc>
                <a:spcPts val="2728"/>
              </a:lnSpc>
              <a:spcBef>
                <a:spcPct val="0"/>
              </a:spcBef>
            </a:pPr>
            <a:r>
              <a:rPr lang="en-US" sz="1949">
                <a:solidFill>
                  <a:srgbClr val="FF2A27"/>
                </a:solidFill>
                <a:latin typeface="DM Sans"/>
                <a:ea typeface="DM Sans"/>
                <a:cs typeface="DM Sans"/>
                <a:sym typeface="DM Sans"/>
              </a:rPr>
              <a:t>STREAMFLIX</a:t>
            </a:r>
          </a:p>
        </p:txBody>
      </p:sp>
      <p:sp>
        <p:nvSpPr>
          <p:cNvPr id="24" name="TextBox 24"/>
          <p:cNvSpPr txBox="1"/>
          <p:nvPr/>
        </p:nvSpPr>
        <p:spPr>
          <a:xfrm>
            <a:off x="1028700" y="1443550"/>
            <a:ext cx="15940070" cy="942744"/>
          </a:xfrm>
          <a:prstGeom prst="rect">
            <a:avLst/>
          </a:prstGeom>
        </p:spPr>
        <p:txBody>
          <a:bodyPr lIns="0" tIns="0" rIns="0" bIns="0" rtlCol="0" anchor="t">
            <a:spAutoFit/>
          </a:bodyPr>
          <a:lstStyle/>
          <a:p>
            <a:pPr marL="0" lvl="0" indent="0" algn="ctr">
              <a:lnSpc>
                <a:spcPts val="7324"/>
              </a:lnSpc>
            </a:pPr>
            <a:r>
              <a:rPr lang="en-US" sz="6539">
                <a:solidFill>
                  <a:srgbClr val="FF2A27"/>
                </a:solidFill>
                <a:latin typeface="DM Sans"/>
                <a:ea typeface="DM Sans"/>
                <a:cs typeface="DM Sans"/>
                <a:sym typeface="DM Sans"/>
              </a:rPr>
              <a:t>FINAL INSIGHTS &amp; RECOMMENDATIONS</a:t>
            </a:r>
          </a:p>
        </p:txBody>
      </p:sp>
      <p:sp>
        <p:nvSpPr>
          <p:cNvPr id="25" name="TextBox 25"/>
          <p:cNvSpPr txBox="1"/>
          <p:nvPr/>
        </p:nvSpPr>
        <p:spPr>
          <a:xfrm>
            <a:off x="1028700" y="2985094"/>
            <a:ext cx="12512278" cy="3191510"/>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FFFFFF"/>
                </a:solidFill>
                <a:latin typeface="Work Sans"/>
                <a:ea typeface="Work Sans"/>
                <a:cs typeface="Work Sans"/>
                <a:sym typeface="Work Sans"/>
              </a:rPr>
              <a:t>Netflix content growth increased rapidly after 2015.</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Movies dominate the platform compared to TV Shows.</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Drama and Documentary genres are the most popular categories.</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The United States and India contribute the highest number of titles.</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Mature audience ratings (TV-MA) appear most frequently on the platform.</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Interactive dashboards help transform raw data into business insights.</a:t>
            </a:r>
          </a:p>
          <a:p>
            <a:pPr marL="561341" lvl="1" indent="-280670" algn="l">
              <a:lnSpc>
                <a:spcPts val="3640"/>
              </a:lnSpc>
              <a:buFont typeface="Arial"/>
              <a:buChar char="•"/>
            </a:pPr>
            <a:r>
              <a:rPr lang="en-US" sz="2600">
                <a:solidFill>
                  <a:srgbClr val="FFFFFF"/>
                </a:solidFill>
                <a:latin typeface="Work Sans"/>
                <a:ea typeface="Work Sans"/>
                <a:cs typeface="Work Sans"/>
                <a:sym typeface="Work Sans"/>
              </a:rPr>
              <a:t>Data visualization improves decision-making and storytelling efficiency.</a:t>
            </a:r>
          </a:p>
        </p:txBody>
      </p:sp>
      <p:sp>
        <p:nvSpPr>
          <p:cNvPr id="26" name="TextBox 26"/>
          <p:cNvSpPr txBox="1"/>
          <p:nvPr/>
        </p:nvSpPr>
        <p:spPr>
          <a:xfrm>
            <a:off x="1279217" y="6490929"/>
            <a:ext cx="15439037" cy="905510"/>
          </a:xfrm>
          <a:prstGeom prst="rect">
            <a:avLst/>
          </a:prstGeom>
        </p:spPr>
        <p:txBody>
          <a:bodyPr lIns="0" tIns="0" rIns="0" bIns="0" rtlCol="0" anchor="t">
            <a:spAutoFit/>
          </a:bodyPr>
          <a:lstStyle/>
          <a:p>
            <a:pPr algn="just">
              <a:lnSpc>
                <a:spcPts val="3640"/>
              </a:lnSpc>
              <a:spcBef>
                <a:spcPct val="0"/>
              </a:spcBef>
            </a:pPr>
            <a:r>
              <a:rPr lang="en-US" sz="2600">
                <a:solidFill>
                  <a:srgbClr val="FFFFFF"/>
                </a:solidFill>
                <a:latin typeface="Work Sans"/>
                <a:ea typeface="Work Sans"/>
                <a:cs typeface="Work Sans"/>
                <a:sym typeface="Work Sans"/>
              </a:rPr>
              <a:t>This project demonstrates how Exploratory Data Analysis, Business Intelligence, and Data Storytelling can convert raw streaming data into meaningful business insights.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78239" y="447639"/>
            <a:ext cx="581061" cy="581061"/>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2A27"/>
            </a:solidFill>
          </p:spPr>
        </p:sp>
        <p:sp>
          <p:nvSpPr>
            <p:cNvPr id="4" name="TextBox 4"/>
            <p:cNvSpPr txBox="1"/>
            <p:nvPr/>
          </p:nvSpPr>
          <p:spPr>
            <a:xfrm>
              <a:off x="0" y="-47625"/>
              <a:ext cx="812800" cy="860425"/>
            </a:xfrm>
            <a:prstGeom prst="rect">
              <a:avLst/>
            </a:prstGeom>
          </p:spPr>
          <p:txBody>
            <a:bodyPr lIns="50800" tIns="50800" rIns="50800" bIns="50800" rtlCol="0" anchor="ctr"/>
            <a:lstStyle/>
            <a:p>
              <a:pPr marL="0" lvl="0" indent="0" algn="ctr">
                <a:lnSpc>
                  <a:spcPts val="2519"/>
                </a:lnSpc>
              </a:pPr>
              <a:endParaRPr/>
            </a:p>
          </p:txBody>
        </p:sp>
      </p:grpSp>
      <p:sp>
        <p:nvSpPr>
          <p:cNvPr id="5" name="Freeform 5"/>
          <p:cNvSpPr/>
          <p:nvPr/>
        </p:nvSpPr>
        <p:spPr>
          <a:xfrm>
            <a:off x="16854450" y="612166"/>
            <a:ext cx="228640" cy="252008"/>
          </a:xfrm>
          <a:custGeom>
            <a:avLst/>
            <a:gdLst/>
            <a:ahLst/>
            <a:cxnLst/>
            <a:rect l="l" t="t" r="r" b="b"/>
            <a:pathLst>
              <a:path w="228640" h="252008">
                <a:moveTo>
                  <a:pt x="0" y="0"/>
                </a:moveTo>
                <a:lnTo>
                  <a:pt x="228639" y="0"/>
                </a:lnTo>
                <a:lnTo>
                  <a:pt x="228639" y="252007"/>
                </a:lnTo>
                <a:lnTo>
                  <a:pt x="0" y="25200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882268" y="447639"/>
            <a:ext cx="3606578" cy="581061"/>
            <a:chOff x="0" y="0"/>
            <a:chExt cx="949881" cy="153037"/>
          </a:xfrm>
        </p:grpSpPr>
        <p:sp>
          <p:nvSpPr>
            <p:cNvPr id="7" name="Freeform 7"/>
            <p:cNvSpPr/>
            <p:nvPr/>
          </p:nvSpPr>
          <p:spPr>
            <a:xfrm>
              <a:off x="0" y="0"/>
              <a:ext cx="949881" cy="153037"/>
            </a:xfrm>
            <a:custGeom>
              <a:avLst/>
              <a:gdLst/>
              <a:ahLst/>
              <a:cxnLst/>
              <a:rect l="l" t="t" r="r" b="b"/>
              <a:pathLst>
                <a:path w="949881" h="153037">
                  <a:moveTo>
                    <a:pt x="0" y="0"/>
                  </a:moveTo>
                  <a:lnTo>
                    <a:pt x="949881" y="0"/>
                  </a:lnTo>
                  <a:lnTo>
                    <a:pt x="949881" y="153037"/>
                  </a:lnTo>
                  <a:lnTo>
                    <a:pt x="0" y="153037"/>
                  </a:lnTo>
                  <a:close/>
                </a:path>
              </a:pathLst>
            </a:custGeom>
            <a:solidFill>
              <a:srgbClr val="000000">
                <a:alpha val="19608"/>
              </a:srgbClr>
            </a:solidFill>
          </p:spPr>
        </p:sp>
        <p:sp>
          <p:nvSpPr>
            <p:cNvPr id="8" name="TextBox 8"/>
            <p:cNvSpPr txBox="1"/>
            <p:nvPr/>
          </p:nvSpPr>
          <p:spPr>
            <a:xfrm>
              <a:off x="0" y="-47625"/>
              <a:ext cx="949881" cy="200662"/>
            </a:xfrm>
            <a:prstGeom prst="rect">
              <a:avLst/>
            </a:prstGeom>
          </p:spPr>
          <p:txBody>
            <a:bodyPr lIns="50800" tIns="50800" rIns="50800" bIns="50800" rtlCol="0" anchor="ctr"/>
            <a:lstStyle/>
            <a:p>
              <a:pPr marL="0" lvl="0" indent="0" algn="ctr">
                <a:lnSpc>
                  <a:spcPts val="2519"/>
                </a:lnSpc>
              </a:pPr>
              <a:endParaRPr/>
            </a:p>
          </p:txBody>
        </p:sp>
      </p:grpSp>
      <p:sp>
        <p:nvSpPr>
          <p:cNvPr id="9" name="Freeform 9"/>
          <p:cNvSpPr/>
          <p:nvPr/>
        </p:nvSpPr>
        <p:spPr>
          <a:xfrm>
            <a:off x="13045350" y="563674"/>
            <a:ext cx="348990" cy="348990"/>
          </a:xfrm>
          <a:custGeom>
            <a:avLst/>
            <a:gdLst/>
            <a:ahLst/>
            <a:cxnLst/>
            <a:rect l="l" t="t" r="r" b="b"/>
            <a:pathLst>
              <a:path w="348990" h="348990">
                <a:moveTo>
                  <a:pt x="0" y="0"/>
                </a:moveTo>
                <a:lnTo>
                  <a:pt x="348991" y="0"/>
                </a:lnTo>
                <a:lnTo>
                  <a:pt x="348991" y="348991"/>
                </a:lnTo>
                <a:lnTo>
                  <a:pt x="0" y="34899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6784540" y="3353287"/>
            <a:ext cx="4113565" cy="4695276"/>
            <a:chOff x="0" y="0"/>
            <a:chExt cx="712100" cy="812800"/>
          </a:xfrm>
        </p:grpSpPr>
        <p:sp>
          <p:nvSpPr>
            <p:cNvPr id="11" name="Freeform 11"/>
            <p:cNvSpPr/>
            <p:nvPr/>
          </p:nvSpPr>
          <p:spPr>
            <a:xfrm>
              <a:off x="0" y="0"/>
              <a:ext cx="712100" cy="812800"/>
            </a:xfrm>
            <a:custGeom>
              <a:avLst/>
              <a:gdLst/>
              <a:ahLst/>
              <a:cxnLst/>
              <a:rect l="l" t="t" r="r" b="b"/>
              <a:pathLst>
                <a:path w="712100" h="812800">
                  <a:moveTo>
                    <a:pt x="0" y="0"/>
                  </a:moveTo>
                  <a:lnTo>
                    <a:pt x="712100" y="0"/>
                  </a:lnTo>
                  <a:lnTo>
                    <a:pt x="712100" y="812800"/>
                  </a:lnTo>
                  <a:lnTo>
                    <a:pt x="0" y="812800"/>
                  </a:lnTo>
                  <a:close/>
                </a:path>
              </a:pathLst>
            </a:custGeom>
            <a:blipFill>
              <a:blip r:embed="rId4"/>
              <a:stretch>
                <a:fillRect t="-4164" b="-4164"/>
              </a:stretch>
            </a:blipFill>
          </p:spPr>
        </p:sp>
      </p:grpSp>
      <p:grpSp>
        <p:nvGrpSpPr>
          <p:cNvPr id="12" name="Group 12"/>
          <p:cNvGrpSpPr/>
          <p:nvPr/>
        </p:nvGrpSpPr>
        <p:grpSpPr>
          <a:xfrm>
            <a:off x="-2111049" y="3150755"/>
            <a:ext cx="4113565" cy="5062672"/>
            <a:chOff x="0" y="0"/>
            <a:chExt cx="712100" cy="876400"/>
          </a:xfrm>
        </p:grpSpPr>
        <p:sp>
          <p:nvSpPr>
            <p:cNvPr id="13" name="Freeform 13"/>
            <p:cNvSpPr/>
            <p:nvPr/>
          </p:nvSpPr>
          <p:spPr>
            <a:xfrm>
              <a:off x="0" y="0"/>
              <a:ext cx="712100" cy="876400"/>
            </a:xfrm>
            <a:custGeom>
              <a:avLst/>
              <a:gdLst/>
              <a:ahLst/>
              <a:cxnLst/>
              <a:rect l="l" t="t" r="r" b="b"/>
              <a:pathLst>
                <a:path w="712100" h="876400">
                  <a:moveTo>
                    <a:pt x="0" y="0"/>
                  </a:moveTo>
                  <a:lnTo>
                    <a:pt x="712100" y="0"/>
                  </a:lnTo>
                  <a:lnTo>
                    <a:pt x="712100" y="876400"/>
                  </a:lnTo>
                  <a:lnTo>
                    <a:pt x="0" y="876400"/>
                  </a:lnTo>
                  <a:close/>
                </a:path>
              </a:pathLst>
            </a:custGeom>
            <a:blipFill>
              <a:blip r:embed="rId5"/>
              <a:stretch>
                <a:fillRect t="-233" b="-233"/>
              </a:stretch>
            </a:blipFill>
          </p:spPr>
        </p:sp>
      </p:grpSp>
      <p:grpSp>
        <p:nvGrpSpPr>
          <p:cNvPr id="14" name="Group 14"/>
          <p:cNvGrpSpPr/>
          <p:nvPr/>
        </p:nvGrpSpPr>
        <p:grpSpPr>
          <a:xfrm>
            <a:off x="2590257" y="3280314"/>
            <a:ext cx="3606543" cy="4841307"/>
            <a:chOff x="0" y="0"/>
            <a:chExt cx="712100" cy="955900"/>
          </a:xfrm>
        </p:grpSpPr>
        <p:sp>
          <p:nvSpPr>
            <p:cNvPr id="15" name="Freeform 15"/>
            <p:cNvSpPr/>
            <p:nvPr/>
          </p:nvSpPr>
          <p:spPr>
            <a:xfrm>
              <a:off x="0" y="0"/>
              <a:ext cx="712100" cy="955900"/>
            </a:xfrm>
            <a:custGeom>
              <a:avLst/>
              <a:gdLst/>
              <a:ahLst/>
              <a:cxnLst/>
              <a:rect l="l" t="t" r="r" b="b"/>
              <a:pathLst>
                <a:path w="712100" h="955900">
                  <a:moveTo>
                    <a:pt x="0" y="0"/>
                  </a:moveTo>
                  <a:lnTo>
                    <a:pt x="712100" y="0"/>
                  </a:lnTo>
                  <a:lnTo>
                    <a:pt x="712100" y="955900"/>
                  </a:lnTo>
                  <a:lnTo>
                    <a:pt x="0" y="955900"/>
                  </a:lnTo>
                  <a:close/>
                </a:path>
              </a:pathLst>
            </a:custGeom>
            <a:blipFill>
              <a:blip r:embed="rId6"/>
              <a:stretch>
                <a:fillRect l="-87" r="-87"/>
              </a:stretch>
            </a:blipFill>
          </p:spPr>
        </p:sp>
      </p:grpSp>
      <p:grpSp>
        <p:nvGrpSpPr>
          <p:cNvPr id="16" name="Group 16"/>
          <p:cNvGrpSpPr/>
          <p:nvPr/>
        </p:nvGrpSpPr>
        <p:grpSpPr>
          <a:xfrm>
            <a:off x="11400808" y="3169588"/>
            <a:ext cx="4113565" cy="5062672"/>
            <a:chOff x="0" y="0"/>
            <a:chExt cx="712100" cy="876400"/>
          </a:xfrm>
        </p:grpSpPr>
        <p:sp>
          <p:nvSpPr>
            <p:cNvPr id="17" name="Freeform 17"/>
            <p:cNvSpPr/>
            <p:nvPr/>
          </p:nvSpPr>
          <p:spPr>
            <a:xfrm>
              <a:off x="0" y="0"/>
              <a:ext cx="712100" cy="876400"/>
            </a:xfrm>
            <a:custGeom>
              <a:avLst/>
              <a:gdLst/>
              <a:ahLst/>
              <a:cxnLst/>
              <a:rect l="l" t="t" r="r" b="b"/>
              <a:pathLst>
                <a:path w="712100" h="876400">
                  <a:moveTo>
                    <a:pt x="0" y="0"/>
                  </a:moveTo>
                  <a:lnTo>
                    <a:pt x="712100" y="0"/>
                  </a:lnTo>
                  <a:lnTo>
                    <a:pt x="712100" y="876400"/>
                  </a:lnTo>
                  <a:lnTo>
                    <a:pt x="0" y="876400"/>
                  </a:lnTo>
                  <a:close/>
                </a:path>
              </a:pathLst>
            </a:custGeom>
            <a:blipFill>
              <a:blip r:embed="rId7"/>
              <a:stretch>
                <a:fillRect t="-233" b="-233"/>
              </a:stretch>
            </a:blipFill>
          </p:spPr>
        </p:sp>
      </p:grpSp>
      <p:grpSp>
        <p:nvGrpSpPr>
          <p:cNvPr id="18" name="Group 18"/>
          <p:cNvGrpSpPr/>
          <p:nvPr/>
        </p:nvGrpSpPr>
        <p:grpSpPr>
          <a:xfrm>
            <a:off x="15714398" y="2939966"/>
            <a:ext cx="4113565" cy="5521917"/>
            <a:chOff x="0" y="0"/>
            <a:chExt cx="712100" cy="955900"/>
          </a:xfrm>
        </p:grpSpPr>
        <p:sp>
          <p:nvSpPr>
            <p:cNvPr id="19" name="Freeform 19"/>
            <p:cNvSpPr/>
            <p:nvPr/>
          </p:nvSpPr>
          <p:spPr>
            <a:xfrm>
              <a:off x="0" y="0"/>
              <a:ext cx="712100" cy="955900"/>
            </a:xfrm>
            <a:custGeom>
              <a:avLst/>
              <a:gdLst/>
              <a:ahLst/>
              <a:cxnLst/>
              <a:rect l="l" t="t" r="r" b="b"/>
              <a:pathLst>
                <a:path w="712100" h="955900">
                  <a:moveTo>
                    <a:pt x="0" y="0"/>
                  </a:moveTo>
                  <a:lnTo>
                    <a:pt x="712100" y="0"/>
                  </a:lnTo>
                  <a:lnTo>
                    <a:pt x="712100" y="955900"/>
                  </a:lnTo>
                  <a:lnTo>
                    <a:pt x="0" y="955900"/>
                  </a:lnTo>
                  <a:close/>
                </a:path>
              </a:pathLst>
            </a:custGeom>
            <a:blipFill>
              <a:blip r:embed="rId8"/>
              <a:stretch>
                <a:fillRect l="-87" r="-87"/>
              </a:stretch>
            </a:blipFill>
          </p:spPr>
        </p:sp>
      </p:grpSp>
      <p:sp>
        <p:nvSpPr>
          <p:cNvPr id="20" name="TextBox 20"/>
          <p:cNvSpPr txBox="1"/>
          <p:nvPr/>
        </p:nvSpPr>
        <p:spPr>
          <a:xfrm>
            <a:off x="8583350" y="556242"/>
            <a:ext cx="1306476"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Contact</a:t>
            </a:r>
          </a:p>
        </p:txBody>
      </p:sp>
      <p:sp>
        <p:nvSpPr>
          <p:cNvPr id="21" name="TextBox 21"/>
          <p:cNvSpPr txBox="1"/>
          <p:nvPr/>
        </p:nvSpPr>
        <p:spPr>
          <a:xfrm>
            <a:off x="13596775" y="556242"/>
            <a:ext cx="1842261" cy="316230"/>
          </a:xfrm>
          <a:prstGeom prst="rect">
            <a:avLst/>
          </a:prstGeom>
        </p:spPr>
        <p:txBody>
          <a:bodyPr lIns="0" tIns="0" rIns="0" bIns="0" rtlCol="0" anchor="t">
            <a:spAutoFit/>
          </a:bodyPr>
          <a:lstStyle/>
          <a:p>
            <a:pPr marL="0" lvl="0" indent="0" algn="l">
              <a:lnSpc>
                <a:spcPts val="2519"/>
              </a:lnSpc>
              <a:spcBef>
                <a:spcPct val="0"/>
              </a:spcBef>
            </a:pPr>
            <a:r>
              <a:rPr lang="en-US" sz="1799">
                <a:solidFill>
                  <a:srgbClr val="FFFFFF"/>
                </a:solidFill>
                <a:latin typeface="Work Sans"/>
                <a:ea typeface="Work Sans"/>
                <a:cs typeface="Work Sans"/>
                <a:sym typeface="Work Sans"/>
              </a:rPr>
              <a:t>Search Now...</a:t>
            </a:r>
          </a:p>
        </p:txBody>
      </p:sp>
      <p:sp>
        <p:nvSpPr>
          <p:cNvPr id="22" name="TextBox 22"/>
          <p:cNvSpPr txBox="1"/>
          <p:nvPr/>
        </p:nvSpPr>
        <p:spPr>
          <a:xfrm>
            <a:off x="6281838" y="556242"/>
            <a:ext cx="1482194"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About Us</a:t>
            </a:r>
          </a:p>
        </p:txBody>
      </p:sp>
      <p:sp>
        <p:nvSpPr>
          <p:cNvPr id="23" name="TextBox 23"/>
          <p:cNvSpPr txBox="1"/>
          <p:nvPr/>
        </p:nvSpPr>
        <p:spPr>
          <a:xfrm>
            <a:off x="4194642" y="556242"/>
            <a:ext cx="1267879" cy="316230"/>
          </a:xfrm>
          <a:prstGeom prst="rect">
            <a:avLst/>
          </a:prstGeom>
        </p:spPr>
        <p:txBody>
          <a:bodyPr lIns="0" tIns="0" rIns="0" bIns="0" rtlCol="0" anchor="t">
            <a:spAutoFit/>
          </a:bodyPr>
          <a:lstStyle/>
          <a:p>
            <a:pPr marL="0" lvl="0" indent="0" algn="ctr">
              <a:lnSpc>
                <a:spcPts val="2519"/>
              </a:lnSpc>
              <a:spcBef>
                <a:spcPct val="0"/>
              </a:spcBef>
            </a:pPr>
            <a:r>
              <a:rPr lang="en-US" sz="1799">
                <a:solidFill>
                  <a:srgbClr val="000000"/>
                </a:solidFill>
                <a:latin typeface="Work Sans"/>
                <a:ea typeface="Work Sans"/>
                <a:cs typeface="Work Sans"/>
                <a:sym typeface="Work Sans"/>
              </a:rPr>
              <a:t>Home</a:t>
            </a:r>
          </a:p>
        </p:txBody>
      </p:sp>
      <p:sp>
        <p:nvSpPr>
          <p:cNvPr id="24" name="TextBox 24"/>
          <p:cNvSpPr txBox="1"/>
          <p:nvPr/>
        </p:nvSpPr>
        <p:spPr>
          <a:xfrm>
            <a:off x="1028700" y="519729"/>
            <a:ext cx="2725071" cy="389297"/>
          </a:xfrm>
          <a:prstGeom prst="rect">
            <a:avLst/>
          </a:prstGeom>
        </p:spPr>
        <p:txBody>
          <a:bodyPr lIns="0" tIns="0" rIns="0" bIns="0" rtlCol="0" anchor="t">
            <a:spAutoFit/>
          </a:bodyPr>
          <a:lstStyle/>
          <a:p>
            <a:pPr marL="0" lvl="0" indent="0" algn="l">
              <a:lnSpc>
                <a:spcPts val="3217"/>
              </a:lnSpc>
              <a:spcBef>
                <a:spcPct val="0"/>
              </a:spcBef>
            </a:pPr>
            <a:r>
              <a:rPr lang="en-US" sz="2298">
                <a:solidFill>
                  <a:srgbClr val="FF2A27"/>
                </a:solidFill>
                <a:latin typeface="DM Sans"/>
                <a:ea typeface="DM Sans"/>
                <a:cs typeface="DM Sans"/>
                <a:sym typeface="DM Sans"/>
              </a:rPr>
              <a:t>NETFLIX</a:t>
            </a:r>
          </a:p>
        </p:txBody>
      </p:sp>
      <p:sp>
        <p:nvSpPr>
          <p:cNvPr id="25" name="TextBox 25"/>
          <p:cNvSpPr txBox="1"/>
          <p:nvPr/>
        </p:nvSpPr>
        <p:spPr>
          <a:xfrm>
            <a:off x="5068154" y="1682539"/>
            <a:ext cx="8151691" cy="1038225"/>
          </a:xfrm>
          <a:prstGeom prst="rect">
            <a:avLst/>
          </a:prstGeom>
        </p:spPr>
        <p:txBody>
          <a:bodyPr lIns="0" tIns="0" rIns="0" bIns="0" rtlCol="0" anchor="t">
            <a:spAutoFit/>
          </a:bodyPr>
          <a:lstStyle/>
          <a:p>
            <a:pPr marL="0" lvl="0" indent="0" algn="ctr">
              <a:lnSpc>
                <a:spcPts val="8400"/>
              </a:lnSpc>
            </a:pPr>
            <a:r>
              <a:rPr lang="en-US" sz="6000" b="1">
                <a:solidFill>
                  <a:srgbClr val="000000"/>
                </a:solidFill>
                <a:latin typeface="DM Sans Bold"/>
                <a:ea typeface="DM Sans Bold"/>
                <a:cs typeface="DM Sans Bold"/>
                <a:sym typeface="DM Sans Bold"/>
              </a:rPr>
              <a:t>THANK YOU</a:t>
            </a:r>
          </a:p>
        </p:txBody>
      </p:sp>
      <p:sp>
        <p:nvSpPr>
          <p:cNvPr id="26" name="TextBox 26"/>
          <p:cNvSpPr txBox="1"/>
          <p:nvPr/>
        </p:nvSpPr>
        <p:spPr>
          <a:xfrm>
            <a:off x="4165977" y="8841105"/>
            <a:ext cx="9956046" cy="417195"/>
          </a:xfrm>
          <a:prstGeom prst="rect">
            <a:avLst/>
          </a:prstGeom>
        </p:spPr>
        <p:txBody>
          <a:bodyPr lIns="0" tIns="0" rIns="0" bIns="0" rtlCol="0" anchor="t">
            <a:spAutoFit/>
          </a:bodyPr>
          <a:lstStyle/>
          <a:p>
            <a:pPr marL="0" lvl="0" indent="0" algn="ctr">
              <a:lnSpc>
                <a:spcPts val="1679"/>
              </a:lnSpc>
              <a:spcBef>
                <a:spcPct val="0"/>
              </a:spcBef>
            </a:pPr>
            <a:r>
              <a:rPr lang="en-US" sz="1200">
                <a:solidFill>
                  <a:srgbClr val="000000"/>
                </a:solidFill>
                <a:latin typeface="Work Sans"/>
                <a:ea typeface="Work Sans"/>
                <a:cs typeface="Work Sans"/>
                <a:sym typeface="Work Sans"/>
              </a:rPr>
              <a:t>Discover what everyone's watching right now. From gripping dramas to laugh-out-loud comedies, explore our most popular titles across all genres. Updated daily based on what millions of viewers are streaming.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792</Words>
  <Application>Microsoft Office PowerPoint</Application>
  <PresentationFormat>Custom</PresentationFormat>
  <Paragraphs>124</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Work Sans Bold</vt:lpstr>
      <vt:lpstr>DM Sans Bold</vt:lpstr>
      <vt:lpstr>Calibri</vt:lpstr>
      <vt:lpstr>DM Sans</vt:lpstr>
      <vt:lpstr>Work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Content Analytics: Data Storytelling &amp; Statistical Validation</dc:title>
  <cp:lastModifiedBy>Vandana Chokkaraju</cp:lastModifiedBy>
  <cp:revision>2</cp:revision>
  <dcterms:created xsi:type="dcterms:W3CDTF">2006-08-16T00:00:00Z</dcterms:created>
  <dcterms:modified xsi:type="dcterms:W3CDTF">2026-05-25T15:48:16Z</dcterms:modified>
  <dc:identifier>DAHKYxu4cVo</dc:identifier>
</cp:coreProperties>
</file>